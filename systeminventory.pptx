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84" r:id="rId5"/>
    <p:sldId id="269" r:id="rId6"/>
    <p:sldId id="261" r:id="rId7"/>
    <p:sldId id="282" r:id="rId8"/>
    <p:sldId id="271" r:id="rId9"/>
    <p:sldId id="274" r:id="rId10"/>
    <p:sldId id="277" r:id="rId11"/>
    <p:sldId id="275" r:id="rId12"/>
    <p:sldId id="278" r:id="rId13"/>
    <p:sldId id="279" r:id="rId14"/>
    <p:sldId id="259" r:id="rId15"/>
    <p:sldId id="266" r:id="rId16"/>
    <p:sldId id="267" r:id="rId17"/>
  </p:sldIdLst>
  <p:sldSz cx="12192000" cy="6858000"/>
  <p:notesSz cx="6858000" cy="9144000"/>
  <p:embeddedFontLst>
    <p:embeddedFont>
      <p:font typeface="Amasis MT Pro" panose="02040504050005020304" pitchFamily="18" charset="0"/>
      <p:regular r:id="rId19"/>
      <p:bold r:id="rId20"/>
      <p:italic r:id="rId21"/>
      <p:boldItalic r:id="rId22"/>
    </p:embeddedFont>
    <p:embeddedFont>
      <p:font typeface="Amasis MT Pro Black" panose="02040A04050005020304" pitchFamily="18" charset="0"/>
      <p:bold r:id="rId23"/>
      <p:boldItalic r:id="rId24"/>
    </p:embeddedFont>
    <p:embeddedFont>
      <p:font typeface="Bebas Neue" panose="020B0606020202050201" pitchFamily="34" charset="0"/>
      <p:regular r:id="rId25"/>
    </p:embeddedFont>
    <p:embeddedFont>
      <p:font typeface="Urbanist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C0F2"/>
    <a:srgbClr val="F5DFDB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4660"/>
  </p:normalViewPr>
  <p:slideViewPr>
    <p:cSldViewPr snapToGrid="0">
      <p:cViewPr varScale="1">
        <p:scale>
          <a:sx n="78" d="100"/>
          <a:sy n="78" d="100"/>
        </p:scale>
        <p:origin x="317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762ffe70ad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2762ffe70ad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DBE2CE99-D178-F8D1-09B7-845DB5375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>
            <a:extLst>
              <a:ext uri="{FF2B5EF4-FFF2-40B4-BE49-F238E27FC236}">
                <a16:creationId xmlns:a16="http://schemas.microsoft.com/office/drawing/2014/main" id="{7963FA58-2C0F-2CB4-D060-DF959D0C64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>
            <a:extLst>
              <a:ext uri="{FF2B5EF4-FFF2-40B4-BE49-F238E27FC236}">
                <a16:creationId xmlns:a16="http://schemas.microsoft.com/office/drawing/2014/main" id="{644C86AC-90D8-3B5B-9A44-C636CD8024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785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99e99b91c1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99e99b91c1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8E12C83D-5925-AB7A-8437-217A39EE4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>
            <a:extLst>
              <a:ext uri="{FF2B5EF4-FFF2-40B4-BE49-F238E27FC236}">
                <a16:creationId xmlns:a16="http://schemas.microsoft.com/office/drawing/2014/main" id="{A7469801-6DB5-E024-5775-64A0033295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>
            <a:extLst>
              <a:ext uri="{FF2B5EF4-FFF2-40B4-BE49-F238E27FC236}">
                <a16:creationId xmlns:a16="http://schemas.microsoft.com/office/drawing/2014/main" id="{50307D66-C299-14E4-B9B1-F3AD270C7A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450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6F517BE6-14E7-4D5C-5594-839E77DE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>
            <a:extLst>
              <a:ext uri="{FF2B5EF4-FFF2-40B4-BE49-F238E27FC236}">
                <a16:creationId xmlns:a16="http://schemas.microsoft.com/office/drawing/2014/main" id="{C4D627DA-9FC4-6CCD-3146-B5EACB7A58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>
            <a:extLst>
              <a:ext uri="{FF2B5EF4-FFF2-40B4-BE49-F238E27FC236}">
                <a16:creationId xmlns:a16="http://schemas.microsoft.com/office/drawing/2014/main" id="{62805E46-8B58-1D83-4045-A4161BBAA2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07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5395D0B5-3C00-6985-A1D5-838BC0A78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>
            <a:extLst>
              <a:ext uri="{FF2B5EF4-FFF2-40B4-BE49-F238E27FC236}">
                <a16:creationId xmlns:a16="http://schemas.microsoft.com/office/drawing/2014/main" id="{7124478F-9F07-6D66-9DD7-D6D95787C3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>
            <a:extLst>
              <a:ext uri="{FF2B5EF4-FFF2-40B4-BE49-F238E27FC236}">
                <a16:creationId xmlns:a16="http://schemas.microsoft.com/office/drawing/2014/main" id="{4D650893-630D-AD09-2CB9-8D4E1D324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3749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C3EA7C6E-4491-35F6-6164-3B6C2BC0D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>
            <a:extLst>
              <a:ext uri="{FF2B5EF4-FFF2-40B4-BE49-F238E27FC236}">
                <a16:creationId xmlns:a16="http://schemas.microsoft.com/office/drawing/2014/main" id="{57362B8E-B9AA-18B4-49D7-30AA096160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>
            <a:extLst>
              <a:ext uri="{FF2B5EF4-FFF2-40B4-BE49-F238E27FC236}">
                <a16:creationId xmlns:a16="http://schemas.microsoft.com/office/drawing/2014/main" id="{F18395FA-E7FB-9C45-ECB5-BDC7CC8118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6628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DEE4A2EE-D690-9D6F-EE32-F0B257CE1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>
            <a:extLst>
              <a:ext uri="{FF2B5EF4-FFF2-40B4-BE49-F238E27FC236}">
                <a16:creationId xmlns:a16="http://schemas.microsoft.com/office/drawing/2014/main" id="{2C273161-3DE7-4DDB-9125-D578777E37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>
            <a:extLst>
              <a:ext uri="{FF2B5EF4-FFF2-40B4-BE49-F238E27FC236}">
                <a16:creationId xmlns:a16="http://schemas.microsoft.com/office/drawing/2014/main" id="{4ADB8862-CEBB-647F-EFB8-017D1A8B41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67279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>
          <a:extLst>
            <a:ext uri="{FF2B5EF4-FFF2-40B4-BE49-F238E27FC236}">
              <a16:creationId xmlns:a16="http://schemas.microsoft.com/office/drawing/2014/main" id="{CCE9C831-47C0-6937-E7FA-321E8ABD4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>
            <a:extLst>
              <a:ext uri="{FF2B5EF4-FFF2-40B4-BE49-F238E27FC236}">
                <a16:creationId xmlns:a16="http://schemas.microsoft.com/office/drawing/2014/main" id="{531442FE-C7CD-7CB5-0476-89F5E7447E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>
            <a:extLst>
              <a:ext uri="{FF2B5EF4-FFF2-40B4-BE49-F238E27FC236}">
                <a16:creationId xmlns:a16="http://schemas.microsoft.com/office/drawing/2014/main" id="{43BE75B1-CDF5-C275-F457-52CE114A1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43208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4"/>
          <p:cNvGrpSpPr/>
          <p:nvPr/>
        </p:nvGrpSpPr>
        <p:grpSpPr>
          <a:xfrm>
            <a:off x="-601038" y="-1015436"/>
            <a:ext cx="15590655" cy="10447213"/>
            <a:chOff x="-450779" y="-761577"/>
            <a:chExt cx="11692991" cy="7835410"/>
          </a:xfrm>
        </p:grpSpPr>
        <p:pic>
          <p:nvPicPr>
            <p:cNvPr id="92" name="Google Shape;92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450779" y="-452154"/>
              <a:ext cx="1612200" cy="1262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1794018">
              <a:off x="7279472" y="3650003"/>
              <a:ext cx="3516601" cy="2728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8252142">
              <a:off x="8106022" y="-406107"/>
              <a:ext cx="1470901" cy="10755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" name="Google Shape;95;p14"/>
          <p:cNvSpPr txBox="1">
            <a:spLocks noGrp="1"/>
          </p:cNvSpPr>
          <p:nvPr>
            <p:ph type="title"/>
          </p:nvPr>
        </p:nvSpPr>
        <p:spPr>
          <a:xfrm>
            <a:off x="960000" y="5161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1"/>
          </p:nvPr>
        </p:nvSpPr>
        <p:spPr>
          <a:xfrm>
            <a:off x="2415500" y="2393755"/>
            <a:ext cx="2903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ubTitle" idx="2"/>
          </p:nvPr>
        </p:nvSpPr>
        <p:spPr>
          <a:xfrm>
            <a:off x="2415500" y="3853837"/>
            <a:ext cx="2903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3"/>
          </p:nvPr>
        </p:nvSpPr>
        <p:spPr>
          <a:xfrm>
            <a:off x="2415500" y="5313904"/>
            <a:ext cx="2903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4" hasCustomPrompt="1"/>
          </p:nvPr>
        </p:nvSpPr>
        <p:spPr>
          <a:xfrm>
            <a:off x="1107500" y="1948533"/>
            <a:ext cx="1104800" cy="1168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5" hasCustomPrompt="1"/>
          </p:nvPr>
        </p:nvSpPr>
        <p:spPr>
          <a:xfrm>
            <a:off x="1107500" y="3408600"/>
            <a:ext cx="1104800" cy="1168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title" idx="6" hasCustomPrompt="1"/>
          </p:nvPr>
        </p:nvSpPr>
        <p:spPr>
          <a:xfrm>
            <a:off x="1107500" y="4868667"/>
            <a:ext cx="1104800" cy="1168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2" name="Google Shape;102;p14"/>
          <p:cNvSpPr txBox="1">
            <a:spLocks noGrp="1"/>
          </p:cNvSpPr>
          <p:nvPr>
            <p:ph type="subTitle" idx="7"/>
          </p:nvPr>
        </p:nvSpPr>
        <p:spPr>
          <a:xfrm>
            <a:off x="2415500" y="2025300"/>
            <a:ext cx="2903200" cy="4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Viga"/>
                <a:ea typeface="Viga"/>
                <a:cs typeface="Viga"/>
                <a:sym typeface="Vig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subTitle" idx="8"/>
          </p:nvPr>
        </p:nvSpPr>
        <p:spPr>
          <a:xfrm>
            <a:off x="2415500" y="3485351"/>
            <a:ext cx="2903200" cy="4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Viga"/>
                <a:ea typeface="Viga"/>
                <a:cs typeface="Viga"/>
                <a:sym typeface="Vig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9"/>
          </p:nvPr>
        </p:nvSpPr>
        <p:spPr>
          <a:xfrm>
            <a:off x="2415500" y="4945417"/>
            <a:ext cx="2903200" cy="4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Viga"/>
                <a:ea typeface="Viga"/>
                <a:cs typeface="Viga"/>
                <a:sym typeface="Vig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subTitle" idx="13"/>
          </p:nvPr>
        </p:nvSpPr>
        <p:spPr>
          <a:xfrm>
            <a:off x="7855533" y="2393755"/>
            <a:ext cx="2903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subTitle" idx="14"/>
          </p:nvPr>
        </p:nvSpPr>
        <p:spPr>
          <a:xfrm>
            <a:off x="7855533" y="3853837"/>
            <a:ext cx="2903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15"/>
          </p:nvPr>
        </p:nvSpPr>
        <p:spPr>
          <a:xfrm>
            <a:off x="7855533" y="5313904"/>
            <a:ext cx="2903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16" hasCustomPrompt="1"/>
          </p:nvPr>
        </p:nvSpPr>
        <p:spPr>
          <a:xfrm>
            <a:off x="6547533" y="1948533"/>
            <a:ext cx="1104800" cy="1168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9" name="Google Shape;109;p14"/>
          <p:cNvSpPr txBox="1">
            <a:spLocks noGrp="1"/>
          </p:cNvSpPr>
          <p:nvPr>
            <p:ph type="title" idx="17" hasCustomPrompt="1"/>
          </p:nvPr>
        </p:nvSpPr>
        <p:spPr>
          <a:xfrm>
            <a:off x="6547533" y="3408600"/>
            <a:ext cx="1104800" cy="1168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0" name="Google Shape;110;p14"/>
          <p:cNvSpPr txBox="1">
            <a:spLocks noGrp="1"/>
          </p:cNvSpPr>
          <p:nvPr>
            <p:ph type="title" idx="18" hasCustomPrompt="1"/>
          </p:nvPr>
        </p:nvSpPr>
        <p:spPr>
          <a:xfrm>
            <a:off x="6547533" y="4868667"/>
            <a:ext cx="1104800" cy="1168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11" name="Google Shape;111;p14"/>
          <p:cNvSpPr txBox="1">
            <a:spLocks noGrp="1"/>
          </p:cNvSpPr>
          <p:nvPr>
            <p:ph type="subTitle" idx="19"/>
          </p:nvPr>
        </p:nvSpPr>
        <p:spPr>
          <a:xfrm>
            <a:off x="7855533" y="2025300"/>
            <a:ext cx="2903200" cy="4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Viga"/>
                <a:ea typeface="Viga"/>
                <a:cs typeface="Viga"/>
                <a:sym typeface="Vig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4"/>
          <p:cNvSpPr txBox="1">
            <a:spLocks noGrp="1"/>
          </p:cNvSpPr>
          <p:nvPr>
            <p:ph type="subTitle" idx="20"/>
          </p:nvPr>
        </p:nvSpPr>
        <p:spPr>
          <a:xfrm>
            <a:off x="7855533" y="3485351"/>
            <a:ext cx="2903200" cy="4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Viga"/>
                <a:ea typeface="Viga"/>
                <a:cs typeface="Viga"/>
                <a:sym typeface="Vig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subTitle" idx="21"/>
          </p:nvPr>
        </p:nvSpPr>
        <p:spPr>
          <a:xfrm>
            <a:off x="7855533" y="4945417"/>
            <a:ext cx="2903200" cy="45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Viga"/>
                <a:ea typeface="Viga"/>
                <a:cs typeface="Viga"/>
                <a:sym typeface="Vig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667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9310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7.svg"/><Relationship Id="rId10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4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879252"/>
            <a:ext cx="80010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Smart Inventory </a:t>
            </a:r>
            <a:r>
              <a:rPr lang="en-US" sz="60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System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841402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Real-Time Inventory and Stock Management for Grocery Stores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14375" y="4778573"/>
            <a:ext cx="62582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Yogi Raj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71500" y="4778573"/>
            <a:ext cx="19050" cy="2000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864072" y="4778573"/>
            <a:ext cx="58087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Sudheer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1721197" y="4778573"/>
            <a:ext cx="19050" cy="2000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968823" y="4778573"/>
            <a:ext cx="5905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Bhavika</a:t>
            </a:r>
            <a:endParaRPr dirty="0"/>
          </a:p>
        </p:txBody>
      </p:sp>
      <p:sp>
        <p:nvSpPr>
          <p:cNvPr id="92" name="Google Shape;92;p13"/>
          <p:cNvSpPr/>
          <p:nvPr/>
        </p:nvSpPr>
        <p:spPr>
          <a:xfrm>
            <a:off x="2825948" y="4778573"/>
            <a:ext cx="19050" cy="2000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083248" y="4778573"/>
            <a:ext cx="77613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Raj Kumar</a:t>
            </a:r>
            <a:endParaRPr dirty="0"/>
          </a:p>
        </p:txBody>
      </p:sp>
      <p:sp>
        <p:nvSpPr>
          <p:cNvPr id="94" name="Google Shape;94;p13"/>
          <p:cNvSpPr/>
          <p:nvPr/>
        </p:nvSpPr>
        <p:spPr>
          <a:xfrm>
            <a:off x="3940373" y="4778573"/>
            <a:ext cx="19050" cy="2000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55B2C3CE-FA0F-B4DA-D347-390808DB3C1E}"/>
              </a:ext>
            </a:extLst>
          </p:cNvPr>
          <p:cNvSpPr txBox="1"/>
          <p:nvPr/>
        </p:nvSpPr>
        <p:spPr>
          <a:xfrm>
            <a:off x="5223180" y="5958348"/>
            <a:ext cx="1885543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Project Review -1 </a:t>
            </a:r>
            <a:endParaRPr sz="1600" b="1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pic>
        <p:nvPicPr>
          <p:cNvPr id="1026" name="Picture 2" descr="Raghu Institute of Technology - [RIT], Visakhapatnam ...">
            <a:extLst>
              <a:ext uri="{FF2B5EF4-FFF2-40B4-BE49-F238E27FC236}">
                <a16:creationId xmlns:a16="http://schemas.microsoft.com/office/drawing/2014/main" id="{2368AD00-96E7-ED21-23A5-CEB620586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4403" y="191422"/>
            <a:ext cx="1293876" cy="1293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86;p13">
            <a:extLst>
              <a:ext uri="{FF2B5EF4-FFF2-40B4-BE49-F238E27FC236}">
                <a16:creationId xmlns:a16="http://schemas.microsoft.com/office/drawing/2014/main" id="{A20FD1A1-0C6A-0259-0744-7AEFE3F4A84E}"/>
              </a:ext>
            </a:extLst>
          </p:cNvPr>
          <p:cNvSpPr txBox="1"/>
          <p:nvPr/>
        </p:nvSpPr>
        <p:spPr>
          <a:xfrm>
            <a:off x="9548090" y="1485298"/>
            <a:ext cx="2046502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Raghu institution of technology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83D07-E062-BF44-9E7B-F74F4C8434BF}"/>
              </a:ext>
            </a:extLst>
          </p:cNvPr>
          <p:cNvSpPr txBox="1"/>
          <p:nvPr/>
        </p:nvSpPr>
        <p:spPr>
          <a:xfrm>
            <a:off x="8742316" y="4070807"/>
            <a:ext cx="33527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Project Guide</a:t>
            </a:r>
            <a:br>
              <a:rPr lang="en-US" sz="2400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8C8076-8288-E271-EA24-0D92B872537A}"/>
              </a:ext>
            </a:extLst>
          </p:cNvPr>
          <p:cNvSpPr txBox="1"/>
          <p:nvPr/>
        </p:nvSpPr>
        <p:spPr>
          <a:xfrm>
            <a:off x="8742316" y="4605793"/>
            <a:ext cx="6174658" cy="103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CA3AF"/>
                </a:solidFill>
                <a:latin typeface="Times New Roman"/>
                <a:cs typeface="Times New Roman"/>
                <a:sym typeface="Times New Roman"/>
              </a:rPr>
              <a:t>Mr. K Vijay,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CA3AF"/>
                </a:solidFill>
                <a:latin typeface="Times New Roman"/>
                <a:cs typeface="Times New Roman"/>
                <a:sym typeface="Times New Roman"/>
              </a:rPr>
              <a:t>Assistant Professor,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CA3AF"/>
                </a:solidFill>
                <a:latin typeface="Times New Roman"/>
                <a:cs typeface="Times New Roman"/>
                <a:sym typeface="Times New Roman"/>
              </a:rPr>
              <a:t>Raghu Institute Of Technology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E41E72-6083-63E1-AF0A-DE6506A2ACB3}"/>
              </a:ext>
            </a:extLst>
          </p:cNvPr>
          <p:cNvSpPr txBox="1"/>
          <p:nvPr/>
        </p:nvSpPr>
        <p:spPr>
          <a:xfrm>
            <a:off x="2347451" y="1015286"/>
            <a:ext cx="74970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Department of CSE</a:t>
            </a:r>
            <a:endParaRPr lang="en-IN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288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2950071"/>
            <a:ext cx="550068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Challenges in Local Retail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923925" y="3500616"/>
            <a:ext cx="285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3502521"/>
            <a:ext cx="4857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Manual Tracking:</a:t>
            </a: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Prone to human errors and inaccuracies.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23925" y="3744396"/>
            <a:ext cx="285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52500" y="3746301"/>
            <a:ext cx="48577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Stockouts &amp; Overstocking:</a:t>
            </a: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Inability to predict demand leads to lost sales or wasted capital.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23925" y="4231957"/>
            <a:ext cx="285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52500" y="4233862"/>
            <a:ext cx="48577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Wastage:</a:t>
            </a: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Perishable items expire unnoticed due to poor batch tracking.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23925" y="4475737"/>
            <a:ext cx="285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52500" y="4477642"/>
            <a:ext cx="48577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Lack of Insights:</a:t>
            </a: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 No real-time data to make informed purchasing decisions.</a:t>
            </a:r>
            <a:endParaRPr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13836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Problem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0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295275" y="2126902"/>
            <a:ext cx="11601450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Solution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2762250" y="3450877"/>
            <a:ext cx="666750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A modern, web-based platform designed to automate operations, track inventory in real-time, and connect directly with suppliers.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3"/>
          <p:cNvSpPr txBox="1">
            <a:spLocks noGrp="1"/>
          </p:cNvSpPr>
          <p:nvPr>
            <p:ph type="title"/>
          </p:nvPr>
        </p:nvSpPr>
        <p:spPr>
          <a:xfrm>
            <a:off x="960000" y="516133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l"/>
            <a:r>
              <a:rPr lang="en" sz="42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Table</a:t>
            </a:r>
            <a:r>
              <a:rPr lang="en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of contents</a:t>
            </a:r>
            <a:endParaRPr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558" name="Google Shape;558;p43"/>
          <p:cNvSpPr txBox="1">
            <a:spLocks noGrp="1"/>
          </p:cNvSpPr>
          <p:nvPr>
            <p:ph type="subTitle" idx="2"/>
          </p:nvPr>
        </p:nvSpPr>
        <p:spPr>
          <a:xfrm>
            <a:off x="2415500" y="3853837"/>
            <a:ext cx="2903200" cy="646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GB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Goals , and expected outcome</a:t>
            </a:r>
            <a:endParaRPr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559" name="Google Shape;559;p43"/>
          <p:cNvSpPr txBox="1">
            <a:spLocks noGrp="1"/>
          </p:cNvSpPr>
          <p:nvPr>
            <p:ph type="subTitle" idx="3"/>
          </p:nvPr>
        </p:nvSpPr>
        <p:spPr>
          <a:xfrm>
            <a:off x="2415500" y="5313904"/>
            <a:ext cx="2903200" cy="646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GB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Existing work survey</a:t>
            </a:r>
          </a:p>
          <a:p>
            <a:pPr marL="0" indent="0"/>
            <a:r>
              <a:rPr lang="en-GB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And gaps </a:t>
            </a:r>
            <a:endParaRPr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560" name="Google Shape;560;p43"/>
          <p:cNvSpPr txBox="1">
            <a:spLocks noGrp="1"/>
          </p:cNvSpPr>
          <p:nvPr>
            <p:ph type="title" idx="4"/>
          </p:nvPr>
        </p:nvSpPr>
        <p:spPr>
          <a:xfrm>
            <a:off x="1107500" y="1948533"/>
            <a:ext cx="1104800" cy="11684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121900" tIns="121900" rIns="121900" bIns="170667" anchor="b" anchorCtr="0">
            <a:noAutofit/>
          </a:bodyPr>
          <a:lstStyle/>
          <a:p>
            <a:r>
              <a:rPr lang="en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01</a:t>
            </a:r>
            <a:endParaRPr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561" name="Google Shape;561;p43"/>
          <p:cNvSpPr txBox="1">
            <a:spLocks noGrp="1"/>
          </p:cNvSpPr>
          <p:nvPr>
            <p:ph type="title" idx="5"/>
          </p:nvPr>
        </p:nvSpPr>
        <p:spPr>
          <a:xfrm>
            <a:off x="1107500" y="3408600"/>
            <a:ext cx="1104800" cy="11684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121900" tIns="121900" rIns="121900" bIns="170667" anchor="b" anchorCtr="0">
            <a:noAutofit/>
          </a:bodyPr>
          <a:lstStyle/>
          <a:p>
            <a:r>
              <a:rPr lang="en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02</a:t>
            </a:r>
            <a:endParaRPr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562" name="Google Shape;562;p43"/>
          <p:cNvSpPr txBox="1">
            <a:spLocks noGrp="1"/>
          </p:cNvSpPr>
          <p:nvPr>
            <p:ph type="title" idx="6"/>
          </p:nvPr>
        </p:nvSpPr>
        <p:spPr>
          <a:xfrm>
            <a:off x="1107500" y="4868667"/>
            <a:ext cx="1104800" cy="11684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121900" tIns="121900" rIns="121900" bIns="170667" anchor="b" anchorCtr="0">
            <a:noAutofit/>
          </a:bodyPr>
          <a:lstStyle/>
          <a:p>
            <a:r>
              <a:rPr lang="en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03</a:t>
            </a:r>
            <a:endParaRPr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563" name="Google Shape;563;p43"/>
          <p:cNvSpPr txBox="1">
            <a:spLocks noGrp="1"/>
          </p:cNvSpPr>
          <p:nvPr>
            <p:ph type="subTitle" idx="7"/>
          </p:nvPr>
        </p:nvSpPr>
        <p:spPr>
          <a:xfrm>
            <a:off x="2415500" y="2305333"/>
            <a:ext cx="2903200" cy="454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GB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Introduction</a:t>
            </a:r>
            <a:endParaRPr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564" name="Google Shape;564;p43"/>
          <p:cNvSpPr txBox="1">
            <a:spLocks noGrp="1"/>
          </p:cNvSpPr>
          <p:nvPr>
            <p:ph type="subTitle" idx="8"/>
          </p:nvPr>
        </p:nvSpPr>
        <p:spPr>
          <a:xfrm>
            <a:off x="2415500" y="3626437"/>
            <a:ext cx="2903200" cy="454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Objectives</a:t>
            </a:r>
            <a:endParaRPr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565" name="Google Shape;565;p43"/>
          <p:cNvSpPr txBox="1">
            <a:spLocks noGrp="1"/>
          </p:cNvSpPr>
          <p:nvPr>
            <p:ph type="subTitle" idx="9"/>
          </p:nvPr>
        </p:nvSpPr>
        <p:spPr>
          <a:xfrm>
            <a:off x="2415500" y="4945417"/>
            <a:ext cx="2903200" cy="454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Literature Survey</a:t>
            </a:r>
            <a:endParaRPr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566" name="Google Shape;566;p43"/>
          <p:cNvSpPr txBox="1">
            <a:spLocks noGrp="1"/>
          </p:cNvSpPr>
          <p:nvPr>
            <p:ph type="subTitle" idx="13"/>
          </p:nvPr>
        </p:nvSpPr>
        <p:spPr>
          <a:xfrm>
            <a:off x="7855533" y="2393755"/>
            <a:ext cx="2903200" cy="646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Proposed System</a:t>
            </a:r>
            <a:endParaRPr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569" name="Google Shape;569;p43"/>
          <p:cNvSpPr txBox="1">
            <a:spLocks noGrp="1"/>
          </p:cNvSpPr>
          <p:nvPr>
            <p:ph type="title" idx="16"/>
          </p:nvPr>
        </p:nvSpPr>
        <p:spPr>
          <a:xfrm>
            <a:off x="6547533" y="1948533"/>
            <a:ext cx="1104800" cy="11684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04</a:t>
            </a:r>
            <a:endParaRPr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570" name="Google Shape;570;p43"/>
          <p:cNvSpPr txBox="1">
            <a:spLocks noGrp="1"/>
          </p:cNvSpPr>
          <p:nvPr>
            <p:ph type="title" idx="17"/>
          </p:nvPr>
        </p:nvSpPr>
        <p:spPr>
          <a:xfrm>
            <a:off x="6547533" y="3408600"/>
            <a:ext cx="1104800" cy="11684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05</a:t>
            </a:r>
            <a:endParaRPr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571" name="Google Shape;571;p43"/>
          <p:cNvSpPr txBox="1">
            <a:spLocks noGrp="1"/>
          </p:cNvSpPr>
          <p:nvPr>
            <p:ph type="title" idx="18"/>
          </p:nvPr>
        </p:nvSpPr>
        <p:spPr>
          <a:xfrm>
            <a:off x="6547533" y="4868667"/>
            <a:ext cx="1104800" cy="11684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06</a:t>
            </a:r>
            <a:endParaRPr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572" name="Google Shape;572;p43"/>
          <p:cNvSpPr txBox="1">
            <a:spLocks noGrp="1"/>
          </p:cNvSpPr>
          <p:nvPr>
            <p:ph type="subTitle" idx="19"/>
          </p:nvPr>
        </p:nvSpPr>
        <p:spPr>
          <a:xfrm>
            <a:off x="7741233" y="2166355"/>
            <a:ext cx="2903200" cy="454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System Analysis</a:t>
            </a:r>
            <a:endParaRPr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573" name="Google Shape;573;p43"/>
          <p:cNvSpPr txBox="1">
            <a:spLocks noGrp="1"/>
          </p:cNvSpPr>
          <p:nvPr>
            <p:ph type="subTitle" idx="20"/>
          </p:nvPr>
        </p:nvSpPr>
        <p:spPr>
          <a:xfrm>
            <a:off x="7855533" y="3871537"/>
            <a:ext cx="2903200" cy="454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System Design</a:t>
            </a:r>
            <a:endParaRPr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574" name="Google Shape;574;p43"/>
          <p:cNvSpPr txBox="1">
            <a:spLocks noGrp="1"/>
          </p:cNvSpPr>
          <p:nvPr>
            <p:ph type="subTitle" idx="21"/>
          </p:nvPr>
        </p:nvSpPr>
        <p:spPr>
          <a:xfrm>
            <a:off x="7957133" y="6037067"/>
            <a:ext cx="2903200" cy="454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sz="28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Urbanist"/>
              </a:rPr>
              <a:t>Technology Stack</a:t>
            </a:r>
            <a:endParaRPr lang="en-US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0" indent="0"/>
            <a:endParaRPr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0"/>
        </a:solidFill>
        <a:effectLst/>
      </p:bgPr>
    </p:bg>
    <p:spTree>
      <p:nvGrpSpPr>
        <p:cNvPr id="1" name="Shape 122">
          <a:extLst>
            <a:ext uri="{FF2B5EF4-FFF2-40B4-BE49-F238E27FC236}">
              <a16:creationId xmlns:a16="http://schemas.microsoft.com/office/drawing/2014/main" id="{D6E90718-6C63-EBC7-3B25-3270369EA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>
            <a:extLst>
              <a:ext uri="{FF2B5EF4-FFF2-40B4-BE49-F238E27FC236}">
                <a16:creationId xmlns:a16="http://schemas.microsoft.com/office/drawing/2014/main" id="{EC379C8E-DCFA-EEB2-22B1-D31FA785044E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80ABD3EC-4DFE-53DB-44AE-2534BE60BF52}"/>
              </a:ext>
            </a:extLst>
          </p:cNvPr>
          <p:cNvSpPr txBox="1"/>
          <p:nvPr/>
        </p:nvSpPr>
        <p:spPr>
          <a:xfrm>
            <a:off x="433007" y="1998842"/>
            <a:ext cx="429691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INTRODUCTION</a:t>
            </a:r>
            <a:endParaRPr lang="en-US" dirty="0"/>
          </a:p>
        </p:txBody>
      </p:sp>
      <p:sp>
        <p:nvSpPr>
          <p:cNvPr id="12" name="Google Shape;101;p14">
            <a:extLst>
              <a:ext uri="{FF2B5EF4-FFF2-40B4-BE49-F238E27FC236}">
                <a16:creationId xmlns:a16="http://schemas.microsoft.com/office/drawing/2014/main" id="{6BF07A16-74F0-2ECB-6D68-0CA66743FE0A}"/>
              </a:ext>
            </a:extLst>
          </p:cNvPr>
          <p:cNvSpPr txBox="1"/>
          <p:nvPr/>
        </p:nvSpPr>
        <p:spPr>
          <a:xfrm>
            <a:off x="450342" y="3090348"/>
            <a:ext cx="55006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Problem Statement</a:t>
            </a: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8CAB62-17D8-9BAB-9C63-1A53932742C3}"/>
              </a:ext>
            </a:extLst>
          </p:cNvPr>
          <p:cNvSpPr txBox="1"/>
          <p:nvPr/>
        </p:nvSpPr>
        <p:spPr>
          <a:xfrm>
            <a:off x="352997" y="3656005"/>
            <a:ext cx="500633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rPr lang="en-GB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Traditional inventory management in Kirana shops relies on manual tracking or outdated systems, leading to inaccurate stock counts, stock-outs, overstocking, and lack of real-time visibility.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7E26C32-3A02-4DF6-9EEE-EC59EB6C37A3}"/>
              </a:ext>
            </a:extLst>
          </p:cNvPr>
          <p:cNvSpPr/>
          <p:nvPr/>
        </p:nvSpPr>
        <p:spPr>
          <a:xfrm>
            <a:off x="6590730" y="1113036"/>
            <a:ext cx="1860868" cy="1896548"/>
          </a:xfrm>
          <a:prstGeom prst="ellipse">
            <a:avLst/>
          </a:prstGeom>
          <a:solidFill>
            <a:srgbClr val="F5DFDB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 </a:t>
            </a:r>
          </a:p>
          <a:p>
            <a:pPr algn="ctr"/>
            <a:endParaRPr lang="en-GB" sz="2000" dirty="0">
              <a:solidFill>
                <a:schemeClr val="tx1">
                  <a:lumMod val="95000"/>
                  <a:lumOff val="5000"/>
                </a:schemeClr>
              </a:solidFill>
              <a:latin typeface="Amasis MT Pro Black" panose="02040A04050005020304" pitchFamily="18" charset="0"/>
            </a:endParaRPr>
          </a:p>
          <a:p>
            <a:pPr algn="ctr"/>
            <a:endParaRPr lang="en-GB" sz="2000" dirty="0">
              <a:solidFill>
                <a:schemeClr val="tx1">
                  <a:lumMod val="95000"/>
                  <a:lumOff val="5000"/>
                </a:schemeClr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937A8A9-778D-BCC1-DA7D-EBB8A214A56A}"/>
              </a:ext>
            </a:extLst>
          </p:cNvPr>
          <p:cNvSpPr/>
          <p:nvPr/>
        </p:nvSpPr>
        <p:spPr>
          <a:xfrm>
            <a:off x="10060120" y="1563132"/>
            <a:ext cx="1892300" cy="1896548"/>
          </a:xfrm>
          <a:prstGeom prst="ellipse">
            <a:avLst/>
          </a:prstGeom>
          <a:solidFill>
            <a:schemeClr val="accent5">
              <a:lumMod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21B299A-BB34-4EB2-D2EE-FC9058025A60}"/>
              </a:ext>
            </a:extLst>
          </p:cNvPr>
          <p:cNvSpPr/>
          <p:nvPr/>
        </p:nvSpPr>
        <p:spPr>
          <a:xfrm>
            <a:off x="8374986" y="848177"/>
            <a:ext cx="1587500" cy="14986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AC7B72B-A24C-71B0-1AEB-59D8ABFD03DF}"/>
              </a:ext>
            </a:extLst>
          </p:cNvPr>
          <p:cNvSpPr/>
          <p:nvPr/>
        </p:nvSpPr>
        <p:spPr>
          <a:xfrm>
            <a:off x="6404104" y="3444353"/>
            <a:ext cx="1709293" cy="165945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DA3D6AB-1FCB-6697-D8C0-28806CEA4AB2}"/>
              </a:ext>
            </a:extLst>
          </p:cNvPr>
          <p:cNvSpPr/>
          <p:nvPr/>
        </p:nvSpPr>
        <p:spPr>
          <a:xfrm>
            <a:off x="9772304" y="4302426"/>
            <a:ext cx="1984561" cy="1896548"/>
          </a:xfrm>
          <a:prstGeom prst="ellipse">
            <a:avLst/>
          </a:prstGeom>
          <a:solidFill>
            <a:srgbClr val="CEC0F2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4409B1E-BBCF-EB75-03D1-B7067BC8DC4D}"/>
              </a:ext>
            </a:extLst>
          </p:cNvPr>
          <p:cNvSpPr/>
          <p:nvPr/>
        </p:nvSpPr>
        <p:spPr>
          <a:xfrm>
            <a:off x="7746336" y="2208205"/>
            <a:ext cx="2844800" cy="2895600"/>
          </a:xfrm>
          <a:prstGeom prst="ellipse">
            <a:avLst/>
          </a:prstGeom>
          <a:solidFill>
            <a:srgbClr val="FF505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latin typeface="Amasis MT Pro Black" panose="02040A04050005020304" pitchFamily="18" charset="0"/>
              </a:rPr>
              <a:t>PROBLEMS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94225DA5-1AF6-42C1-8E0C-30C5C6A21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825" y="1635619"/>
            <a:ext cx="901800" cy="901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09D35D78-EFB5-BEA9-69DC-027E627DAD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9685" y="1230120"/>
            <a:ext cx="734713" cy="734713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9F292543-9651-681B-4786-3B2D9E4D9A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0189" y="2034352"/>
            <a:ext cx="954108" cy="954108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45474170-27AD-2F8E-DB57-022FDF5722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4113" y="4681317"/>
            <a:ext cx="1138766" cy="1138766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F52DD33D-3641-E5C9-A932-800B5D6F3F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0193" y="3737916"/>
            <a:ext cx="1072325" cy="107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462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0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4626611" y="373450"/>
            <a:ext cx="32131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OBJECTIVES</a:t>
            </a:r>
            <a:endParaRPr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7" name="Google Shape;165;p18">
            <a:extLst>
              <a:ext uri="{FF2B5EF4-FFF2-40B4-BE49-F238E27FC236}">
                <a16:creationId xmlns:a16="http://schemas.microsoft.com/office/drawing/2014/main" id="{F1EADCC9-6984-CF08-0220-EE29481D31FD}"/>
              </a:ext>
            </a:extLst>
          </p:cNvPr>
          <p:cNvSpPr txBox="1"/>
          <p:nvPr/>
        </p:nvSpPr>
        <p:spPr>
          <a:xfrm>
            <a:off x="987822" y="2156295"/>
            <a:ext cx="533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</a:t>
            </a:r>
            <a:endParaRPr sz="5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Google Shape;165;p18">
            <a:extLst>
              <a:ext uri="{FF2B5EF4-FFF2-40B4-BE49-F238E27FC236}">
                <a16:creationId xmlns:a16="http://schemas.microsoft.com/office/drawing/2014/main" id="{3EFB9B9A-2252-6EC9-8A5D-9A9BF2F5A6B4}"/>
              </a:ext>
            </a:extLst>
          </p:cNvPr>
          <p:cNvSpPr txBox="1"/>
          <p:nvPr/>
        </p:nvSpPr>
        <p:spPr>
          <a:xfrm>
            <a:off x="9113600" y="2375544"/>
            <a:ext cx="2451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18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Reduce manual errors and wastage</a:t>
            </a:r>
            <a:endParaRPr sz="18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3102F43D-84F0-14A9-DC91-879F566DA624}"/>
              </a:ext>
            </a:extLst>
          </p:cNvPr>
          <p:cNvSpPr/>
          <p:nvPr/>
        </p:nvSpPr>
        <p:spPr>
          <a:xfrm>
            <a:off x="3931841" y="1420856"/>
            <a:ext cx="2255600" cy="2185822"/>
          </a:xfrm>
          <a:custGeom>
            <a:avLst/>
            <a:gdLst>
              <a:gd name="csX0" fmla="*/ 2255600 w 2255600"/>
              <a:gd name="csY0" fmla="*/ 0 h 2185822"/>
              <a:gd name="csX1" fmla="*/ 2255600 w 2255600"/>
              <a:gd name="csY1" fmla="*/ 1049245 h 2185822"/>
              <a:gd name="csX2" fmla="*/ 1123590 w 2255600"/>
              <a:gd name="csY2" fmla="*/ 2185822 h 2185822"/>
              <a:gd name="csX3" fmla="*/ 0 w 2255600"/>
              <a:gd name="csY3" fmla="*/ 2185822 h 2185822"/>
              <a:gd name="csX4" fmla="*/ 10579 w 2255600"/>
              <a:gd name="csY4" fmla="*/ 1982742 h 2185822"/>
              <a:gd name="csX5" fmla="*/ 2045378 w 2255600"/>
              <a:gd name="csY5" fmla="*/ 10290 h 2185822"/>
              <a:gd name="csX6" fmla="*/ 2255600 w 2255600"/>
              <a:gd name="csY6" fmla="*/ 0 h 21858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255600" h="2185822">
                <a:moveTo>
                  <a:pt x="2255600" y="0"/>
                </a:moveTo>
                <a:lnTo>
                  <a:pt x="2255600" y="1049245"/>
                </a:lnTo>
                <a:lnTo>
                  <a:pt x="1123590" y="2185822"/>
                </a:lnTo>
                <a:lnTo>
                  <a:pt x="0" y="2185822"/>
                </a:lnTo>
                <a:lnTo>
                  <a:pt x="10579" y="1982742"/>
                </a:lnTo>
                <a:cubicBezTo>
                  <a:pt x="119537" y="942724"/>
                  <a:pt x="972486" y="115910"/>
                  <a:pt x="2045378" y="10290"/>
                </a:cubicBezTo>
                <a:lnTo>
                  <a:pt x="2255600" y="0"/>
                </a:lnTo>
                <a:close/>
              </a:path>
            </a:pathLst>
          </a:cu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32A05940-2375-7DE2-C00D-FE030B109E70}"/>
              </a:ext>
            </a:extLst>
          </p:cNvPr>
          <p:cNvSpPr/>
          <p:nvPr/>
        </p:nvSpPr>
        <p:spPr>
          <a:xfrm>
            <a:off x="6233161" y="1420856"/>
            <a:ext cx="2255599" cy="2185822"/>
          </a:xfrm>
          <a:custGeom>
            <a:avLst/>
            <a:gdLst>
              <a:gd name="csX0" fmla="*/ 0 w 2255599"/>
              <a:gd name="csY0" fmla="*/ 0 h 2185822"/>
              <a:gd name="csX1" fmla="*/ 210221 w 2255599"/>
              <a:gd name="csY1" fmla="*/ 10290 h 2185822"/>
              <a:gd name="csX2" fmla="*/ 2245020 w 2255599"/>
              <a:gd name="csY2" fmla="*/ 1982742 h 2185822"/>
              <a:gd name="csX3" fmla="*/ 2255599 w 2255599"/>
              <a:gd name="csY3" fmla="*/ 2185822 h 2185822"/>
              <a:gd name="csX4" fmla="*/ 1136579 w 2255599"/>
              <a:gd name="csY4" fmla="*/ 2185822 h 2185822"/>
              <a:gd name="csX5" fmla="*/ 0 w 2255599"/>
              <a:gd name="csY5" fmla="*/ 1053812 h 2185822"/>
              <a:gd name="csX6" fmla="*/ 0 w 2255599"/>
              <a:gd name="csY6" fmla="*/ 0 h 21858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255599" h="2185822">
                <a:moveTo>
                  <a:pt x="0" y="0"/>
                </a:moveTo>
                <a:lnTo>
                  <a:pt x="210221" y="10290"/>
                </a:lnTo>
                <a:cubicBezTo>
                  <a:pt x="1283113" y="115910"/>
                  <a:pt x="2136063" y="942724"/>
                  <a:pt x="2245020" y="1982742"/>
                </a:cubicBezTo>
                <a:lnTo>
                  <a:pt x="2255599" y="2185822"/>
                </a:lnTo>
                <a:lnTo>
                  <a:pt x="1136579" y="2185822"/>
                </a:lnTo>
                <a:lnTo>
                  <a:pt x="0" y="105381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EA63ED80-6A4D-870D-4DED-D570E9A887EE}"/>
              </a:ext>
            </a:extLst>
          </p:cNvPr>
          <p:cNvSpPr/>
          <p:nvPr/>
        </p:nvSpPr>
        <p:spPr>
          <a:xfrm>
            <a:off x="3931841" y="3652398"/>
            <a:ext cx="2255600" cy="2185821"/>
          </a:xfrm>
          <a:custGeom>
            <a:avLst/>
            <a:gdLst>
              <a:gd name="csX0" fmla="*/ 0 w 2255600"/>
              <a:gd name="csY0" fmla="*/ 0 h 2185821"/>
              <a:gd name="csX1" fmla="*/ 1119023 w 2255600"/>
              <a:gd name="csY1" fmla="*/ 0 h 2185821"/>
              <a:gd name="csX2" fmla="*/ 2255600 w 2255600"/>
              <a:gd name="csY2" fmla="*/ 1132012 h 2185821"/>
              <a:gd name="csX3" fmla="*/ 2255600 w 2255600"/>
              <a:gd name="csY3" fmla="*/ 2185821 h 2185821"/>
              <a:gd name="csX4" fmla="*/ 2045378 w 2255600"/>
              <a:gd name="csY4" fmla="*/ 2175531 h 2185821"/>
              <a:gd name="csX5" fmla="*/ 10579 w 2255600"/>
              <a:gd name="csY5" fmla="*/ 203079 h 2185821"/>
              <a:gd name="csX6" fmla="*/ 0 w 2255600"/>
              <a:gd name="csY6" fmla="*/ 0 h 21858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255600" h="2185821">
                <a:moveTo>
                  <a:pt x="0" y="0"/>
                </a:moveTo>
                <a:lnTo>
                  <a:pt x="1119023" y="0"/>
                </a:lnTo>
                <a:lnTo>
                  <a:pt x="2255600" y="1132012"/>
                </a:lnTo>
                <a:lnTo>
                  <a:pt x="2255600" y="2185821"/>
                </a:lnTo>
                <a:lnTo>
                  <a:pt x="2045378" y="2175531"/>
                </a:lnTo>
                <a:cubicBezTo>
                  <a:pt x="972486" y="2069912"/>
                  <a:pt x="119537" y="1243098"/>
                  <a:pt x="10579" y="2030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9188091F-F764-F4ED-8D63-BB8206BDC26C}"/>
              </a:ext>
            </a:extLst>
          </p:cNvPr>
          <p:cNvSpPr/>
          <p:nvPr/>
        </p:nvSpPr>
        <p:spPr>
          <a:xfrm>
            <a:off x="6233161" y="3652398"/>
            <a:ext cx="2255599" cy="2185821"/>
          </a:xfrm>
          <a:custGeom>
            <a:avLst/>
            <a:gdLst>
              <a:gd name="csX0" fmla="*/ 1132012 w 2255599"/>
              <a:gd name="csY0" fmla="*/ 0 h 2185821"/>
              <a:gd name="csX1" fmla="*/ 2255599 w 2255599"/>
              <a:gd name="csY1" fmla="*/ 0 h 2185821"/>
              <a:gd name="csX2" fmla="*/ 2245020 w 2255599"/>
              <a:gd name="csY2" fmla="*/ 203079 h 2185821"/>
              <a:gd name="csX3" fmla="*/ 210221 w 2255599"/>
              <a:gd name="csY3" fmla="*/ 2175531 h 2185821"/>
              <a:gd name="csX4" fmla="*/ 0 w 2255599"/>
              <a:gd name="csY4" fmla="*/ 2185821 h 2185821"/>
              <a:gd name="csX5" fmla="*/ 0 w 2255599"/>
              <a:gd name="csY5" fmla="*/ 1136579 h 2185821"/>
              <a:gd name="csX6" fmla="*/ 1132012 w 2255599"/>
              <a:gd name="csY6" fmla="*/ 0 h 21858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255599" h="2185821">
                <a:moveTo>
                  <a:pt x="1132012" y="0"/>
                </a:moveTo>
                <a:lnTo>
                  <a:pt x="2255599" y="0"/>
                </a:lnTo>
                <a:lnTo>
                  <a:pt x="2245020" y="203079"/>
                </a:lnTo>
                <a:cubicBezTo>
                  <a:pt x="2136063" y="1243098"/>
                  <a:pt x="1283113" y="2069912"/>
                  <a:pt x="210221" y="2175531"/>
                </a:cubicBezTo>
                <a:lnTo>
                  <a:pt x="0" y="2185821"/>
                </a:lnTo>
                <a:lnTo>
                  <a:pt x="0" y="1136579"/>
                </a:lnTo>
                <a:lnTo>
                  <a:pt x="1132012" y="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3" name="Google Shape;165;p18">
            <a:extLst>
              <a:ext uri="{FF2B5EF4-FFF2-40B4-BE49-F238E27FC236}">
                <a16:creationId xmlns:a16="http://schemas.microsoft.com/office/drawing/2014/main" id="{DD8BEF71-4E16-FED6-B53B-57BD5B0E45A0}"/>
              </a:ext>
            </a:extLst>
          </p:cNvPr>
          <p:cNvSpPr txBox="1"/>
          <p:nvPr/>
        </p:nvSpPr>
        <p:spPr>
          <a:xfrm>
            <a:off x="9113600" y="4817047"/>
            <a:ext cx="270550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18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Provide a live dashboard for store owners</a:t>
            </a:r>
            <a:endParaRPr sz="18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54" name="Google Shape;165;p18">
            <a:extLst>
              <a:ext uri="{FF2B5EF4-FFF2-40B4-BE49-F238E27FC236}">
                <a16:creationId xmlns:a16="http://schemas.microsoft.com/office/drawing/2014/main" id="{5FEED4F2-4E26-E1CF-8F3E-5563AD5D429D}"/>
              </a:ext>
            </a:extLst>
          </p:cNvPr>
          <p:cNvSpPr txBox="1"/>
          <p:nvPr/>
        </p:nvSpPr>
        <p:spPr>
          <a:xfrm>
            <a:off x="1572537" y="2387922"/>
            <a:ext cx="2451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18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Track inventory levels in real time</a:t>
            </a:r>
            <a:endParaRPr sz="18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55" name="Google Shape;165;p18">
            <a:extLst>
              <a:ext uri="{FF2B5EF4-FFF2-40B4-BE49-F238E27FC236}">
                <a16:creationId xmlns:a16="http://schemas.microsoft.com/office/drawing/2014/main" id="{26756FFD-D2A8-9846-7581-A9369D370F38}"/>
              </a:ext>
            </a:extLst>
          </p:cNvPr>
          <p:cNvSpPr txBox="1"/>
          <p:nvPr/>
        </p:nvSpPr>
        <p:spPr>
          <a:xfrm>
            <a:off x="1566942" y="4817047"/>
            <a:ext cx="24511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18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Automatically update stock during sales</a:t>
            </a:r>
            <a:endParaRPr sz="18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75" name="Google Shape;165;p18">
            <a:extLst>
              <a:ext uri="{FF2B5EF4-FFF2-40B4-BE49-F238E27FC236}">
                <a16:creationId xmlns:a16="http://schemas.microsoft.com/office/drawing/2014/main" id="{0A28F49C-3D8C-26B1-BC4C-E699C80EBD3F}"/>
              </a:ext>
            </a:extLst>
          </p:cNvPr>
          <p:cNvSpPr txBox="1"/>
          <p:nvPr/>
        </p:nvSpPr>
        <p:spPr>
          <a:xfrm>
            <a:off x="987822" y="4634184"/>
            <a:ext cx="533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1</a:t>
            </a:r>
            <a:endParaRPr sz="5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6" name="Google Shape;165;p18">
            <a:extLst>
              <a:ext uri="{FF2B5EF4-FFF2-40B4-BE49-F238E27FC236}">
                <a16:creationId xmlns:a16="http://schemas.microsoft.com/office/drawing/2014/main" id="{EBC60CA1-4EB7-8004-3378-FEDD821D6015}"/>
              </a:ext>
            </a:extLst>
          </p:cNvPr>
          <p:cNvSpPr txBox="1"/>
          <p:nvPr/>
        </p:nvSpPr>
        <p:spPr>
          <a:xfrm>
            <a:off x="8534480" y="2156295"/>
            <a:ext cx="533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3</a:t>
            </a:r>
            <a:endParaRPr sz="5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7" name="Google Shape;165;p18">
            <a:extLst>
              <a:ext uri="{FF2B5EF4-FFF2-40B4-BE49-F238E27FC236}">
                <a16:creationId xmlns:a16="http://schemas.microsoft.com/office/drawing/2014/main" id="{5F57535F-367F-C18B-6B6F-E5B67615195F}"/>
              </a:ext>
            </a:extLst>
          </p:cNvPr>
          <p:cNvSpPr txBox="1"/>
          <p:nvPr/>
        </p:nvSpPr>
        <p:spPr>
          <a:xfrm>
            <a:off x="8523407" y="4634184"/>
            <a:ext cx="5334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4</a:t>
            </a:r>
            <a:endParaRPr sz="5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8" name="Google Shape;165;p18">
            <a:extLst>
              <a:ext uri="{FF2B5EF4-FFF2-40B4-BE49-F238E27FC236}">
                <a16:creationId xmlns:a16="http://schemas.microsoft.com/office/drawing/2014/main" id="{2AE8FC27-FFE1-C12C-2DC2-23FFE1EF6336}"/>
              </a:ext>
            </a:extLst>
          </p:cNvPr>
          <p:cNvSpPr txBox="1"/>
          <p:nvPr/>
        </p:nvSpPr>
        <p:spPr>
          <a:xfrm>
            <a:off x="5362556" y="3344621"/>
            <a:ext cx="167191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GB" sz="2000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What we aim to achieve.</a:t>
            </a:r>
            <a:endParaRPr sz="2000" b="1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pic>
        <p:nvPicPr>
          <p:cNvPr id="184" name="Picture 183">
            <a:extLst>
              <a:ext uri="{FF2B5EF4-FFF2-40B4-BE49-F238E27FC236}">
                <a16:creationId xmlns:a16="http://schemas.microsoft.com/office/drawing/2014/main" id="{54C8755F-3119-8D10-BEC8-9E55F6A6A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156" y="2042251"/>
            <a:ext cx="886705" cy="886705"/>
          </a:xfrm>
          <a:prstGeom prst="rect">
            <a:avLst/>
          </a:prstGeom>
        </p:spPr>
      </p:pic>
      <p:pic>
        <p:nvPicPr>
          <p:cNvPr id="186" name="Picture 185">
            <a:extLst>
              <a:ext uri="{FF2B5EF4-FFF2-40B4-BE49-F238E27FC236}">
                <a16:creationId xmlns:a16="http://schemas.microsoft.com/office/drawing/2014/main" id="{88B4190C-81B0-EFB4-492E-9E58E8104E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2960" y="2115716"/>
            <a:ext cx="813240" cy="813240"/>
          </a:xfrm>
          <a:prstGeom prst="rect">
            <a:avLst/>
          </a:prstGeom>
        </p:spPr>
      </p:pic>
      <p:pic>
        <p:nvPicPr>
          <p:cNvPr id="188" name="Picture 187">
            <a:extLst>
              <a:ext uri="{FF2B5EF4-FFF2-40B4-BE49-F238E27FC236}">
                <a16:creationId xmlns:a16="http://schemas.microsoft.com/office/drawing/2014/main" id="{50594824-2EA2-BDC7-D07F-4524A5C67E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2960" y="4407890"/>
            <a:ext cx="813240" cy="845905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DAAFCC58-13D4-AFC6-4BFA-A2F92039B8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9156" y="4367090"/>
            <a:ext cx="886705" cy="8867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609633" y="417976"/>
            <a:ext cx="10972800" cy="525724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Goals (EXPECTED OUTCOMES based on your features)</a:t>
            </a:r>
            <a:br>
              <a:rPr lang="en-US" sz="3200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</a:br>
            <a:endParaRPr sz="32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834148" y="2022163"/>
            <a:ext cx="2394000" cy="1918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-GB" sz="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Demand forecasting using historical sales data (future enhancement)</a:t>
            </a:r>
          </a:p>
          <a:p>
            <a:pPr algn="r"/>
            <a:endParaRPr sz="2000" dirty="0">
              <a:solidFill>
                <a:schemeClr val="accent1">
                  <a:lumMod val="60000"/>
                  <a:lumOff val="40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Fira Sans Extra Condensed Medium"/>
            </a:endParaRPr>
          </a:p>
        </p:txBody>
      </p:sp>
      <p:cxnSp>
        <p:nvCxnSpPr>
          <p:cNvPr id="101" name="Google Shape;101;p17"/>
          <p:cNvCxnSpPr/>
          <p:nvPr/>
        </p:nvCxnSpPr>
        <p:spPr>
          <a:xfrm>
            <a:off x="3247857" y="2914500"/>
            <a:ext cx="17548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02" name="Google Shape;102;p17"/>
          <p:cNvSpPr/>
          <p:nvPr/>
        </p:nvSpPr>
        <p:spPr>
          <a:xfrm>
            <a:off x="4120071" y="1599101"/>
            <a:ext cx="1961000" cy="3395300"/>
          </a:xfrm>
          <a:custGeom>
            <a:avLst/>
            <a:gdLst/>
            <a:ahLst/>
            <a:cxnLst/>
            <a:rect l="l" t="t" r="r" b="b"/>
            <a:pathLst>
              <a:path w="58830" h="101859" extrusionOk="0">
                <a:moveTo>
                  <a:pt x="58829" y="1"/>
                </a:moveTo>
                <a:lnTo>
                  <a:pt x="58829" y="1"/>
                </a:lnTo>
                <a:cubicBezTo>
                  <a:pt x="26277" y="382"/>
                  <a:pt x="0" y="26885"/>
                  <a:pt x="0" y="59532"/>
                </a:cubicBezTo>
                <a:cubicBezTo>
                  <a:pt x="0" y="76094"/>
                  <a:pt x="6763" y="91072"/>
                  <a:pt x="17669" y="101859"/>
                </a:cubicBezTo>
                <a:lnTo>
                  <a:pt x="5882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4547405" y="2294400"/>
            <a:ext cx="935200" cy="6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933">
                <a:solidFill>
                  <a:srgbClr val="FFFFFF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Fira Sans Extra Condensed Medium"/>
              </a:rPr>
              <a:t>5º</a:t>
            </a:r>
            <a:endParaRPr sz="2933">
              <a:solidFill>
                <a:srgbClr val="FFFFFF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Fira Sans Extra Condensed Medium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853854" y="4123076"/>
            <a:ext cx="239400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-GB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Scalable base for future features</a:t>
            </a:r>
          </a:p>
          <a:p>
            <a:pPr algn="r"/>
            <a:r>
              <a:rPr lang="en-GB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Fira Sans Extra Condensed Medium"/>
              </a:rPr>
              <a:t>And </a:t>
            </a:r>
          </a:p>
          <a:p>
            <a:pPr algn="r"/>
            <a:r>
              <a:rPr lang="en-GB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Fira Sans Extra Condensed Medium"/>
              </a:rPr>
              <a:t>Cloud deployment</a:t>
            </a:r>
            <a:endParaRPr sz="2000" dirty="0">
              <a:solidFill>
                <a:schemeClr val="accent4">
                  <a:lumMod val="60000"/>
                  <a:lumOff val="40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Fira Sans Extra Condensed Medium"/>
            </a:endParaRPr>
          </a:p>
        </p:txBody>
      </p:sp>
      <p:cxnSp>
        <p:nvCxnSpPr>
          <p:cNvPr id="107" name="Google Shape;107;p17"/>
          <p:cNvCxnSpPr/>
          <p:nvPr/>
        </p:nvCxnSpPr>
        <p:spPr>
          <a:xfrm>
            <a:off x="3349457" y="4409475"/>
            <a:ext cx="17304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08" name="Google Shape;108;p17"/>
          <p:cNvSpPr/>
          <p:nvPr/>
        </p:nvSpPr>
        <p:spPr>
          <a:xfrm>
            <a:off x="4120071" y="3020334"/>
            <a:ext cx="2930933" cy="2547567"/>
          </a:xfrm>
          <a:custGeom>
            <a:avLst/>
            <a:gdLst/>
            <a:ahLst/>
            <a:cxnLst/>
            <a:rect l="l" t="t" r="r" b="b"/>
            <a:pathLst>
              <a:path w="87928" h="76427" extrusionOk="0">
                <a:moveTo>
                  <a:pt x="2429" y="0"/>
                </a:moveTo>
                <a:cubicBezTo>
                  <a:pt x="858" y="5358"/>
                  <a:pt x="0" y="11025"/>
                  <a:pt x="0" y="16895"/>
                </a:cubicBezTo>
                <a:cubicBezTo>
                  <a:pt x="0" y="49768"/>
                  <a:pt x="26658" y="76426"/>
                  <a:pt x="59532" y="76426"/>
                </a:cubicBezTo>
                <a:cubicBezTo>
                  <a:pt x="69819" y="76426"/>
                  <a:pt x="79486" y="73819"/>
                  <a:pt x="87928" y="69235"/>
                </a:cubicBezTo>
                <a:lnTo>
                  <a:pt x="242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4416688" y="3950700"/>
            <a:ext cx="935200" cy="6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933">
                <a:solidFill>
                  <a:srgbClr val="FFFFFF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Fira Sans Extra Condensed Medium"/>
              </a:rPr>
              <a:t>4º</a:t>
            </a:r>
            <a:endParaRPr sz="2933">
              <a:solidFill>
                <a:srgbClr val="FFFFFF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Fira Sans Extra Condensed Medium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8944139" y="4923167"/>
            <a:ext cx="241120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2000" dirty="0">
                <a:solidFill>
                  <a:schemeClr val="accent3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Fira Sans Extra Condensed Medium"/>
              </a:rPr>
              <a:t>Reduce Stock looses</a:t>
            </a:r>
            <a:endParaRPr sz="2000" dirty="0">
              <a:solidFill>
                <a:schemeClr val="accent3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Fira Sans Extra Condensed Medium"/>
            </a:endParaRPr>
          </a:p>
        </p:txBody>
      </p:sp>
      <p:cxnSp>
        <p:nvCxnSpPr>
          <p:cNvPr id="113" name="Google Shape;113;p17"/>
          <p:cNvCxnSpPr/>
          <p:nvPr/>
        </p:nvCxnSpPr>
        <p:spPr>
          <a:xfrm rot="10800000">
            <a:off x="6898943" y="5209575"/>
            <a:ext cx="19436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14" name="Google Shape;114;p17"/>
          <p:cNvSpPr/>
          <p:nvPr/>
        </p:nvSpPr>
        <p:spPr>
          <a:xfrm>
            <a:off x="5008271" y="3186601"/>
            <a:ext cx="3080567" cy="2381300"/>
          </a:xfrm>
          <a:custGeom>
            <a:avLst/>
            <a:gdLst/>
            <a:ahLst/>
            <a:cxnLst/>
            <a:rect l="l" t="t" r="r" b="b"/>
            <a:pathLst>
              <a:path w="92417" h="71439" extrusionOk="0">
                <a:moveTo>
                  <a:pt x="91226" y="1"/>
                </a:moveTo>
                <a:lnTo>
                  <a:pt x="1" y="61532"/>
                </a:lnTo>
                <a:cubicBezTo>
                  <a:pt x="9418" y="67795"/>
                  <a:pt x="20729" y="71438"/>
                  <a:pt x="32886" y="71438"/>
                </a:cubicBezTo>
                <a:cubicBezTo>
                  <a:pt x="65771" y="71438"/>
                  <a:pt x="92417" y="44780"/>
                  <a:pt x="92417" y="11907"/>
                </a:cubicBezTo>
                <a:cubicBezTo>
                  <a:pt x="92417" y="7823"/>
                  <a:pt x="92012" y="3847"/>
                  <a:pt x="9122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963743" y="4637533"/>
            <a:ext cx="935200" cy="6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933">
                <a:solidFill>
                  <a:srgbClr val="FFFFFF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Fira Sans Extra Condensed Medium"/>
              </a:rPr>
              <a:t>3º</a:t>
            </a:r>
            <a:endParaRPr sz="2933">
              <a:solidFill>
                <a:srgbClr val="FFFFFF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Fira Sans Extra Condensed Medium"/>
            </a:endParaRPr>
          </a:p>
        </p:txBody>
      </p:sp>
      <p:grpSp>
        <p:nvGrpSpPr>
          <p:cNvPr id="116" name="Google Shape;116;p17"/>
          <p:cNvGrpSpPr/>
          <p:nvPr/>
        </p:nvGrpSpPr>
        <p:grpSpPr>
          <a:xfrm>
            <a:off x="8944137" y="3391918"/>
            <a:ext cx="2904961" cy="1149249"/>
            <a:chOff x="6708103" y="2543938"/>
            <a:chExt cx="2178721" cy="861937"/>
          </a:xfrm>
        </p:grpSpPr>
        <p:sp>
          <p:nvSpPr>
            <p:cNvPr id="117" name="Google Shape;117;p17"/>
            <p:cNvSpPr txBox="1"/>
            <p:nvPr/>
          </p:nvSpPr>
          <p:spPr>
            <a:xfrm>
              <a:off x="6708103" y="2543938"/>
              <a:ext cx="2178721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GB" sz="2000" dirty="0">
                  <a:solidFill>
                    <a:schemeClr val="accent6">
                      <a:lumMod val="75000"/>
                    </a:schemeClr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Faster decision-making</a:t>
              </a:r>
              <a:endParaRPr sz="2000" dirty="0">
                <a:solidFill>
                  <a:schemeClr val="accent6">
                    <a:lumMod val="75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Fira Sans Extra Condensed Medium"/>
              </a:endParaRPr>
            </a:p>
          </p:txBody>
        </p:sp>
        <p:sp>
          <p:nvSpPr>
            <p:cNvPr id="118" name="Google Shape;118;p17"/>
            <p:cNvSpPr txBox="1"/>
            <p:nvPr/>
          </p:nvSpPr>
          <p:spPr>
            <a:xfrm>
              <a:off x="6708113" y="2890775"/>
              <a:ext cx="2041500" cy="51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" sz="1600">
                  <a:solidFill>
                    <a:schemeClr val="dk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  <a:sym typeface="Roboto"/>
                </a:rPr>
                <a:t>Despite being red,</a:t>
              </a:r>
              <a:br>
                <a:rPr lang="en" sz="1600">
                  <a:solidFill>
                    <a:schemeClr val="dk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  <a:sym typeface="Roboto"/>
                </a:rPr>
              </a:br>
              <a:r>
                <a:rPr lang="en" sz="1600">
                  <a:solidFill>
                    <a:schemeClr val="dk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  <a:sym typeface="Roboto"/>
                </a:rPr>
                <a:t>Mars is a cold place</a:t>
              </a:r>
              <a:endParaRPr sz="1333">
                <a:solidFill>
                  <a:srgbClr val="434343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Roboto"/>
              </a:endParaRPr>
            </a:p>
          </p:txBody>
        </p:sp>
      </p:grpSp>
      <p:cxnSp>
        <p:nvCxnSpPr>
          <p:cNvPr id="119" name="Google Shape;119;p17"/>
          <p:cNvCxnSpPr>
            <a:cxnSpLocks/>
            <a:stCxn id="117" idx="1"/>
          </p:cNvCxnSpPr>
          <p:nvPr/>
        </p:nvCxnSpPr>
        <p:spPr>
          <a:xfrm flipH="1" flipV="1">
            <a:off x="8156539" y="3678317"/>
            <a:ext cx="787598" cy="1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0" name="Google Shape;120;p17"/>
          <p:cNvSpPr/>
          <p:nvPr/>
        </p:nvSpPr>
        <p:spPr>
          <a:xfrm>
            <a:off x="6297704" y="1608634"/>
            <a:ext cx="1791133" cy="3504033"/>
          </a:xfrm>
          <a:custGeom>
            <a:avLst/>
            <a:gdLst/>
            <a:ahLst/>
            <a:cxnLst/>
            <a:rect l="l" t="t" r="r" b="b"/>
            <a:pathLst>
              <a:path w="53734" h="105121" extrusionOk="0">
                <a:moveTo>
                  <a:pt x="1" y="1"/>
                </a:moveTo>
                <a:lnTo>
                  <a:pt x="32148" y="105121"/>
                </a:lnTo>
                <a:cubicBezTo>
                  <a:pt x="45328" y="94203"/>
                  <a:pt x="53734" y="77713"/>
                  <a:pt x="53734" y="59246"/>
                </a:cubicBezTo>
                <a:cubicBezTo>
                  <a:pt x="53734" y="28326"/>
                  <a:pt x="30159" y="2906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7090423" y="3340100"/>
            <a:ext cx="853200" cy="6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933">
                <a:solidFill>
                  <a:srgbClr val="FFFFFF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Fira Sans Extra Condensed Medium"/>
              </a:rPr>
              <a:t>2º</a:t>
            </a:r>
            <a:endParaRPr sz="2933">
              <a:solidFill>
                <a:srgbClr val="FFFFFF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Fira Sans Extra Condensed Medium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8944151" y="2265067"/>
            <a:ext cx="2722000" cy="6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1600">
                <a:solidFill>
                  <a:schemeClr val="dk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Roboto"/>
              </a:rPr>
              <a:t>Mercury is the closest planet to the Sun</a:t>
            </a:r>
            <a:endParaRPr sz="1333">
              <a:solidFill>
                <a:srgbClr val="434343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Roboto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8944139" y="1476645"/>
            <a:ext cx="2514436" cy="128796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GB" sz="2000" dirty="0">
                <a:solidFill>
                  <a:schemeClr val="bg2">
                    <a:lumMod val="60000"/>
                    <a:lumOff val="40000"/>
                  </a:schemeClr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Improved inventory accuracy</a:t>
            </a:r>
            <a:endParaRPr sz="2000" dirty="0">
              <a:solidFill>
                <a:schemeClr val="bg2">
                  <a:lumMod val="60000"/>
                  <a:lumOff val="40000"/>
                </a:schemeClr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Fira Sans Extra Condensed Medium"/>
            </a:endParaRPr>
          </a:p>
        </p:txBody>
      </p:sp>
      <p:cxnSp>
        <p:nvCxnSpPr>
          <p:cNvPr id="124" name="Google Shape;124;p17"/>
          <p:cNvCxnSpPr/>
          <p:nvPr/>
        </p:nvCxnSpPr>
        <p:spPr>
          <a:xfrm rot="10800000">
            <a:off x="7348143" y="2089000"/>
            <a:ext cx="1596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5" name="Google Shape;125;p17"/>
          <p:cNvSpPr/>
          <p:nvPr/>
        </p:nvSpPr>
        <p:spPr>
          <a:xfrm>
            <a:off x="5588905" y="1601101"/>
            <a:ext cx="2346767" cy="1219633"/>
          </a:xfrm>
          <a:custGeom>
            <a:avLst/>
            <a:gdLst/>
            <a:ahLst/>
            <a:cxnLst/>
            <a:rect l="l" t="t" r="r" b="b"/>
            <a:pathLst>
              <a:path w="70403" h="36589" extrusionOk="0">
                <a:moveTo>
                  <a:pt x="15467" y="0"/>
                </a:moveTo>
                <a:cubicBezTo>
                  <a:pt x="15228" y="0"/>
                  <a:pt x="14990" y="24"/>
                  <a:pt x="14764" y="24"/>
                </a:cubicBezTo>
                <a:lnTo>
                  <a:pt x="0" y="36588"/>
                </a:lnTo>
                <a:lnTo>
                  <a:pt x="70402" y="36588"/>
                </a:lnTo>
                <a:cubicBezTo>
                  <a:pt x="61401" y="15014"/>
                  <a:pt x="40196" y="0"/>
                  <a:pt x="154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6237223" y="1941367"/>
            <a:ext cx="853200" cy="6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933">
                <a:solidFill>
                  <a:srgbClr val="FFFFFF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Fira Sans Extra Condensed Medium"/>
              </a:rPr>
              <a:t>1º</a:t>
            </a:r>
            <a:endParaRPr sz="2933">
              <a:solidFill>
                <a:srgbClr val="FFFFFF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Fira Sans Extra Condensed Medium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5288251" y="3312519"/>
            <a:ext cx="1615600" cy="4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3200">
                <a:solidFill>
                  <a:schemeClr val="dk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Fira Sans Extra Condensed Medium"/>
              </a:rPr>
              <a:t>GOAL</a:t>
            </a:r>
            <a:endParaRPr sz="3200">
              <a:solidFill>
                <a:schemeClr val="dk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0"/>
        </a:solidFill>
        <a:effectLst/>
      </p:bgPr>
    </p:bg>
    <p:spTree>
      <p:nvGrpSpPr>
        <p:cNvPr id="1" name="Shape 155">
          <a:extLst>
            <a:ext uri="{FF2B5EF4-FFF2-40B4-BE49-F238E27FC236}">
              <a16:creationId xmlns:a16="http://schemas.microsoft.com/office/drawing/2014/main" id="{594486FD-7B0D-5607-1CB7-9C1328AFD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>
            <a:extLst>
              <a:ext uri="{FF2B5EF4-FFF2-40B4-BE49-F238E27FC236}">
                <a16:creationId xmlns:a16="http://schemas.microsoft.com/office/drawing/2014/main" id="{B7367359-1E48-CC71-F9AF-666964D8A0E6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>
            <a:extLst>
              <a:ext uri="{FF2B5EF4-FFF2-40B4-BE49-F238E27FC236}">
                <a16:creationId xmlns:a16="http://schemas.microsoft.com/office/drawing/2014/main" id="{4A52259F-AF8B-7D57-4541-A0E957ED140C}"/>
              </a:ext>
            </a:extLst>
          </p:cNvPr>
          <p:cNvSpPr txBox="1"/>
          <p:nvPr/>
        </p:nvSpPr>
        <p:spPr>
          <a:xfrm>
            <a:off x="439737" y="2201783"/>
            <a:ext cx="5064125" cy="2708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defRPr sz="1800" b="1">
                <a:solidFill>
                  <a:srgbClr val="90EE90"/>
                </a:solidFill>
              </a:defRPr>
            </a:pPr>
            <a:r>
              <a:rPr lang="en-GB" sz="240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Summary of Existing Solutions / Research:</a:t>
            </a:r>
          </a:p>
          <a:p>
            <a:pPr>
              <a:defRPr sz="1800" b="1">
                <a:solidFill>
                  <a:srgbClr val="90EE90"/>
                </a:solidFill>
              </a:defRPr>
            </a:pPr>
            <a:endParaRPr lang="en-GB" sz="2400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>
              <a:defRPr sz="1400">
                <a:solidFill>
                  <a:srgbClr val="FFFFFF"/>
                </a:solidFill>
              </a:defRPr>
            </a:pPr>
            <a:r>
              <a:rPr lang="en-GB" sz="1800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Existing inventory management systems focus on basic stock maintenance, billing, and sales records. Most research papers propose centralized inventory databases with periodic updates and report generation.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2" name="Google Shape;165;p18">
            <a:extLst>
              <a:ext uri="{FF2B5EF4-FFF2-40B4-BE49-F238E27FC236}">
                <a16:creationId xmlns:a16="http://schemas.microsoft.com/office/drawing/2014/main" id="{C00808E8-7B82-DB2B-1D8B-A5C67D014B95}"/>
              </a:ext>
            </a:extLst>
          </p:cNvPr>
          <p:cNvSpPr txBox="1"/>
          <p:nvPr/>
        </p:nvSpPr>
        <p:spPr>
          <a:xfrm>
            <a:off x="358775" y="478076"/>
            <a:ext cx="4391025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4200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Literature Survey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DC60BB-E576-3B6B-515C-D63C126F4349}"/>
              </a:ext>
            </a:extLst>
          </p:cNvPr>
          <p:cNvSpPr/>
          <p:nvPr/>
        </p:nvSpPr>
        <p:spPr>
          <a:xfrm>
            <a:off x="6794500" y="2108200"/>
            <a:ext cx="4622800" cy="57150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Inventory &amp; sales data storage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A2340F-5863-6943-9A70-16C1BF9A02BF}"/>
              </a:ext>
            </a:extLst>
          </p:cNvPr>
          <p:cNvSpPr/>
          <p:nvPr/>
        </p:nvSpPr>
        <p:spPr>
          <a:xfrm>
            <a:off x="6794500" y="2832100"/>
            <a:ext cx="4622800" cy="5715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         Sales and stock record maintenance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EE0A31-12E7-DF8A-C779-366F9FD82857}"/>
              </a:ext>
            </a:extLst>
          </p:cNvPr>
          <p:cNvSpPr/>
          <p:nvPr/>
        </p:nvSpPr>
        <p:spPr>
          <a:xfrm>
            <a:off x="6794500" y="3556000"/>
            <a:ext cx="4622800" cy="5715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   Inventory reports and summaries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887EA5-A261-2C7B-0EE8-78D2AB5D25A6}"/>
              </a:ext>
            </a:extLst>
          </p:cNvPr>
          <p:cNvSpPr/>
          <p:nvPr/>
        </p:nvSpPr>
        <p:spPr>
          <a:xfrm>
            <a:off x="6794500" y="4279900"/>
            <a:ext cx="4622800" cy="5715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>
                <a:solidFill>
                  <a:schemeClr val="tx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                     Automatic replenishment</a:t>
            </a:r>
          </a:p>
          <a:p>
            <a:pPr algn="ctr"/>
            <a:endParaRPr lang="en-GB" b="1" dirty="0">
              <a:solidFill>
                <a:schemeClr val="tx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D6E258-C05D-1404-EB2E-DEF7C747688A}"/>
              </a:ext>
            </a:extLst>
          </p:cNvPr>
          <p:cNvSpPr txBox="1"/>
          <p:nvPr/>
        </p:nvSpPr>
        <p:spPr>
          <a:xfrm>
            <a:off x="7226300" y="1445170"/>
            <a:ext cx="3690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What Others Have Done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1EDE8A-AE99-EEA2-29CD-9D7241C167B5}"/>
              </a:ext>
            </a:extLst>
          </p:cNvPr>
          <p:cNvSpPr/>
          <p:nvPr/>
        </p:nvSpPr>
        <p:spPr>
          <a:xfrm>
            <a:off x="6794500" y="2108200"/>
            <a:ext cx="800100" cy="5715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A4D809-628E-45A4-F109-347DB42DAAF9}"/>
              </a:ext>
            </a:extLst>
          </p:cNvPr>
          <p:cNvSpPr/>
          <p:nvPr/>
        </p:nvSpPr>
        <p:spPr>
          <a:xfrm>
            <a:off x="6794500" y="2825750"/>
            <a:ext cx="800100" cy="5715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87778E-374C-AECA-C0A8-849ACB19D7B1}"/>
              </a:ext>
            </a:extLst>
          </p:cNvPr>
          <p:cNvSpPr/>
          <p:nvPr/>
        </p:nvSpPr>
        <p:spPr>
          <a:xfrm>
            <a:off x="6794500" y="3556000"/>
            <a:ext cx="800100" cy="5715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F78301-D046-5A58-A264-7E5F77950924}"/>
              </a:ext>
            </a:extLst>
          </p:cNvPr>
          <p:cNvSpPr/>
          <p:nvPr/>
        </p:nvSpPr>
        <p:spPr>
          <a:xfrm>
            <a:off x="6794500" y="4273550"/>
            <a:ext cx="800100" cy="5715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77077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0"/>
        </a:solidFill>
        <a:effectLst/>
      </p:bgPr>
    </p:bg>
    <p:spTree>
      <p:nvGrpSpPr>
        <p:cNvPr id="1" name="Shape 155">
          <a:extLst>
            <a:ext uri="{FF2B5EF4-FFF2-40B4-BE49-F238E27FC236}">
              <a16:creationId xmlns:a16="http://schemas.microsoft.com/office/drawing/2014/main" id="{68D0F563-C131-9A5E-D8B7-7C321714D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>
            <a:extLst>
              <a:ext uri="{FF2B5EF4-FFF2-40B4-BE49-F238E27FC236}">
                <a16:creationId xmlns:a16="http://schemas.microsoft.com/office/drawing/2014/main" id="{AEAC1812-BF3E-8DFB-8595-DC4DE42BA896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165" name="Google Shape;165;p18">
            <a:extLst>
              <a:ext uri="{FF2B5EF4-FFF2-40B4-BE49-F238E27FC236}">
                <a16:creationId xmlns:a16="http://schemas.microsoft.com/office/drawing/2014/main" id="{C7CC9682-520A-C44A-C357-12FCB57C585C}"/>
              </a:ext>
            </a:extLst>
          </p:cNvPr>
          <p:cNvSpPr txBox="1"/>
          <p:nvPr/>
        </p:nvSpPr>
        <p:spPr>
          <a:xfrm>
            <a:off x="2020921" y="375943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4200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Gaps / Limitations in existing work</a:t>
            </a:r>
            <a:endParaRPr sz="4200" b="1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73B880CB-EE94-E79C-911E-FB0C8D80D070}"/>
              </a:ext>
            </a:extLst>
          </p:cNvPr>
          <p:cNvGrpSpPr/>
          <p:nvPr/>
        </p:nvGrpSpPr>
        <p:grpSpPr>
          <a:xfrm>
            <a:off x="253005" y="1536710"/>
            <a:ext cx="11176025" cy="4315950"/>
            <a:chOff x="418105" y="1930410"/>
            <a:chExt cx="11176025" cy="431595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D3A66E5-5A2E-0361-23E9-AB9B85854417}"/>
                </a:ext>
              </a:extLst>
            </p:cNvPr>
            <p:cNvGrpSpPr/>
            <p:nvPr/>
          </p:nvGrpSpPr>
          <p:grpSpPr>
            <a:xfrm>
              <a:off x="418105" y="3045537"/>
              <a:ext cx="2320657" cy="2371457"/>
              <a:chOff x="803543" y="2860943"/>
              <a:chExt cx="1669514" cy="1669514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94AB108-4B97-E7F2-187B-B84D817FC75A}"/>
                  </a:ext>
                </a:extLst>
              </p:cNvPr>
              <p:cNvSpPr/>
              <p:nvPr/>
            </p:nvSpPr>
            <p:spPr>
              <a:xfrm>
                <a:off x="876300" y="2946400"/>
                <a:ext cx="1524000" cy="149860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19" name="Graphic 18" descr="No sign with solid fill">
                <a:extLst>
                  <a:ext uri="{FF2B5EF4-FFF2-40B4-BE49-F238E27FC236}">
                    <a16:creationId xmlns:a16="http://schemas.microsoft.com/office/drawing/2014/main" id="{D7532924-4256-818E-E9F7-8C4E3D1574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03543" y="2860943"/>
                <a:ext cx="1669514" cy="1669514"/>
              </a:xfrm>
              <a:prstGeom prst="rect">
                <a:avLst/>
              </a:prstGeom>
            </p:spPr>
          </p:pic>
        </p:grp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E876074-58CB-A9FF-2755-19CFDA6D6616}"/>
                </a:ext>
              </a:extLst>
            </p:cNvPr>
            <p:cNvSpPr/>
            <p:nvPr/>
          </p:nvSpPr>
          <p:spPr>
            <a:xfrm>
              <a:off x="1751009" y="2826399"/>
              <a:ext cx="1310608" cy="2809734"/>
            </a:xfrm>
            <a:custGeom>
              <a:avLst/>
              <a:gdLst>
                <a:gd name="csX0" fmla="*/ 0 w 1028700"/>
                <a:gd name="csY0" fmla="*/ 0 h 2228638"/>
                <a:gd name="csX1" fmla="*/ 48171 w 1028700"/>
                <a:gd name="csY1" fmla="*/ 2489 h 2228638"/>
                <a:gd name="csX2" fmla="*/ 1028700 w 1028700"/>
                <a:gd name="csY2" fmla="*/ 1114319 h 2228638"/>
                <a:gd name="csX3" fmla="*/ 48171 w 1028700"/>
                <a:gd name="csY3" fmla="*/ 2226149 h 2228638"/>
                <a:gd name="csX4" fmla="*/ 0 w 1028700"/>
                <a:gd name="csY4" fmla="*/ 2228638 h 2228638"/>
                <a:gd name="csX5" fmla="*/ 0 w 1028700"/>
                <a:gd name="csY5" fmla="*/ 2088869 h 2228638"/>
                <a:gd name="csX6" fmla="*/ 31575 w 1028700"/>
                <a:gd name="csY6" fmla="*/ 2087203 h 2228638"/>
                <a:gd name="csX7" fmla="*/ 866375 w 1028700"/>
                <a:gd name="csY7" fmla="*/ 1120669 h 2228638"/>
                <a:gd name="csX8" fmla="*/ 31575 w 1028700"/>
                <a:gd name="csY8" fmla="*/ 154135 h 2228638"/>
                <a:gd name="csX9" fmla="*/ 0 w 1028700"/>
                <a:gd name="csY9" fmla="*/ 152469 h 2228638"/>
                <a:gd name="csX10" fmla="*/ 0 w 1028700"/>
                <a:gd name="csY10" fmla="*/ 0 h 22286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28700" h="2228638">
                  <a:moveTo>
                    <a:pt x="0" y="0"/>
                  </a:moveTo>
                  <a:lnTo>
                    <a:pt x="48171" y="2489"/>
                  </a:lnTo>
                  <a:cubicBezTo>
                    <a:pt x="598919" y="59722"/>
                    <a:pt x="1028700" y="535663"/>
                    <a:pt x="1028700" y="1114319"/>
                  </a:cubicBezTo>
                  <a:cubicBezTo>
                    <a:pt x="1028700" y="1692975"/>
                    <a:pt x="598919" y="2168917"/>
                    <a:pt x="48171" y="2226149"/>
                  </a:cubicBezTo>
                  <a:lnTo>
                    <a:pt x="0" y="2228638"/>
                  </a:lnTo>
                  <a:lnTo>
                    <a:pt x="0" y="2088869"/>
                  </a:lnTo>
                  <a:lnTo>
                    <a:pt x="31575" y="2087203"/>
                  </a:lnTo>
                  <a:cubicBezTo>
                    <a:pt x="500470" y="2037450"/>
                    <a:pt x="866375" y="1623705"/>
                    <a:pt x="866375" y="1120669"/>
                  </a:cubicBezTo>
                  <a:cubicBezTo>
                    <a:pt x="866375" y="617633"/>
                    <a:pt x="500470" y="203888"/>
                    <a:pt x="31575" y="154135"/>
                  </a:cubicBezTo>
                  <a:lnTo>
                    <a:pt x="0" y="152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bg1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3979CE1-BA0A-080E-111C-4E5CAA5DB2E9}"/>
                </a:ext>
              </a:extLst>
            </p:cNvPr>
            <p:cNvSpPr/>
            <p:nvPr/>
          </p:nvSpPr>
          <p:spPr>
            <a:xfrm>
              <a:off x="1698618" y="2853418"/>
              <a:ext cx="177800" cy="1651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BF80500-E2AE-50A2-828C-1BEC0DA875A8}"/>
                </a:ext>
              </a:extLst>
            </p:cNvPr>
            <p:cNvSpPr/>
            <p:nvPr/>
          </p:nvSpPr>
          <p:spPr>
            <a:xfrm>
              <a:off x="2649862" y="3429000"/>
              <a:ext cx="177800" cy="1651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8DB7CC3-A959-BCF4-039D-DFEB124D734D}"/>
                </a:ext>
              </a:extLst>
            </p:cNvPr>
            <p:cNvSpPr/>
            <p:nvPr/>
          </p:nvSpPr>
          <p:spPr>
            <a:xfrm>
              <a:off x="2860184" y="4136142"/>
              <a:ext cx="201433" cy="19024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CAD304A-1957-944E-97AD-B5E5B8E4CBEA}"/>
                </a:ext>
              </a:extLst>
            </p:cNvPr>
            <p:cNvSpPr/>
            <p:nvPr/>
          </p:nvSpPr>
          <p:spPr>
            <a:xfrm>
              <a:off x="2738762" y="4758502"/>
              <a:ext cx="201433" cy="19024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39C59E2-2DA0-0AEA-5C51-EB68023CE01A}"/>
                </a:ext>
              </a:extLst>
            </p:cNvPr>
            <p:cNvSpPr/>
            <p:nvPr/>
          </p:nvSpPr>
          <p:spPr>
            <a:xfrm>
              <a:off x="1714676" y="5442393"/>
              <a:ext cx="201433" cy="19024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878B6F21-7DA4-9660-0201-5D079D817C06}"/>
                </a:ext>
              </a:extLst>
            </p:cNvPr>
            <p:cNvCxnSpPr>
              <a:cxnSpLocks/>
              <a:stCxn id="52" idx="0"/>
              <a:endCxn id="146" idx="2"/>
            </p:cNvCxnSpPr>
            <p:nvPr/>
          </p:nvCxnSpPr>
          <p:spPr>
            <a:xfrm rot="5400000" flipH="1" flipV="1">
              <a:off x="2822688" y="1218406"/>
              <a:ext cx="599843" cy="2670183"/>
            </a:xfrm>
            <a:prstGeom prst="bentConnector2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: Elbow 61">
              <a:extLst>
                <a:ext uri="{FF2B5EF4-FFF2-40B4-BE49-F238E27FC236}">
                  <a16:creationId xmlns:a16="http://schemas.microsoft.com/office/drawing/2014/main" id="{AB9F56E0-A2D1-6044-91B3-A0B4166D6113}"/>
                </a:ext>
              </a:extLst>
            </p:cNvPr>
            <p:cNvCxnSpPr>
              <a:cxnSpLocks/>
              <a:stCxn id="53" idx="6"/>
              <a:endCxn id="166" idx="2"/>
            </p:cNvCxnSpPr>
            <p:nvPr/>
          </p:nvCxnSpPr>
          <p:spPr>
            <a:xfrm flipV="1">
              <a:off x="2827662" y="3511547"/>
              <a:ext cx="1630039" cy="3"/>
            </a:xfrm>
            <a:prstGeom prst="bentConnector3">
              <a:avLst>
                <a:gd name="adj1" fmla="val 50000"/>
              </a:avLst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ctor: Elbow 134">
              <a:extLst>
                <a:ext uri="{FF2B5EF4-FFF2-40B4-BE49-F238E27FC236}">
                  <a16:creationId xmlns:a16="http://schemas.microsoft.com/office/drawing/2014/main" id="{22DE26D1-4AEC-3932-E794-9D41C8F1457F}"/>
                </a:ext>
              </a:extLst>
            </p:cNvPr>
            <p:cNvCxnSpPr>
              <a:cxnSpLocks/>
              <a:stCxn id="56" idx="4"/>
              <a:endCxn id="177" idx="2"/>
            </p:cNvCxnSpPr>
            <p:nvPr/>
          </p:nvCxnSpPr>
          <p:spPr>
            <a:xfrm rot="16200000" flipH="1">
              <a:off x="2991269" y="4456762"/>
              <a:ext cx="290556" cy="2642308"/>
            </a:xfrm>
            <a:prstGeom prst="bentConnector2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ctor: Elbow 141">
              <a:extLst>
                <a:ext uri="{FF2B5EF4-FFF2-40B4-BE49-F238E27FC236}">
                  <a16:creationId xmlns:a16="http://schemas.microsoft.com/office/drawing/2014/main" id="{C7EF0422-07E3-252D-F1DC-9E669930189A}"/>
                </a:ext>
              </a:extLst>
            </p:cNvPr>
            <p:cNvCxnSpPr>
              <a:cxnSpLocks/>
              <a:stCxn id="55" idx="6"/>
              <a:endCxn id="169" idx="2"/>
            </p:cNvCxnSpPr>
            <p:nvPr/>
          </p:nvCxnSpPr>
          <p:spPr>
            <a:xfrm flipV="1">
              <a:off x="2940195" y="4853624"/>
              <a:ext cx="1454326" cy="1"/>
            </a:xfrm>
            <a:prstGeom prst="bentConnector3">
              <a:avLst>
                <a:gd name="adj1" fmla="val 50000"/>
              </a:avLst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F0798D17-CBF9-A82B-5546-FEB91D78095D}"/>
                </a:ext>
              </a:extLst>
            </p:cNvPr>
            <p:cNvGrpSpPr/>
            <p:nvPr/>
          </p:nvGrpSpPr>
          <p:grpSpPr>
            <a:xfrm>
              <a:off x="4394521" y="1930410"/>
              <a:ext cx="660400" cy="646331"/>
              <a:chOff x="4344042" y="1843978"/>
              <a:chExt cx="660400" cy="646331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6CCD2193-EE6D-3A44-651E-3FA84B354576}"/>
                  </a:ext>
                </a:extLst>
              </p:cNvPr>
              <p:cNvSpPr/>
              <p:nvPr/>
            </p:nvSpPr>
            <p:spPr>
              <a:xfrm>
                <a:off x="4344042" y="1843978"/>
                <a:ext cx="660400" cy="64633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3670033A-3336-831A-42E7-38CF9CA8794A}"/>
                  </a:ext>
                </a:extLst>
              </p:cNvPr>
              <p:cNvSpPr/>
              <p:nvPr/>
            </p:nvSpPr>
            <p:spPr>
              <a:xfrm>
                <a:off x="4407222" y="1908586"/>
                <a:ext cx="534040" cy="51711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>
                    <a:solidFill>
                      <a:schemeClr val="tx1"/>
                    </a:solidFill>
                    <a:latin typeface="Amasis MT Pro Black" panose="02040A04050005020304" pitchFamily="18" charset="0"/>
                  </a:rPr>
                  <a:t>1</a:t>
                </a:r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1DD07510-2B62-B254-AC5A-0DDC99217DFE}"/>
                </a:ext>
              </a:extLst>
            </p:cNvPr>
            <p:cNvGrpSpPr/>
            <p:nvPr/>
          </p:nvGrpSpPr>
          <p:grpSpPr>
            <a:xfrm>
              <a:off x="4394521" y="3188382"/>
              <a:ext cx="660400" cy="646331"/>
              <a:chOff x="4344042" y="1843978"/>
              <a:chExt cx="660400" cy="646331"/>
            </a:xfrm>
          </p:grpSpPr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BCF618AB-5866-62C1-EEEE-387E727B75D8}"/>
                  </a:ext>
                </a:extLst>
              </p:cNvPr>
              <p:cNvSpPr/>
              <p:nvPr/>
            </p:nvSpPr>
            <p:spPr>
              <a:xfrm>
                <a:off x="4344042" y="1843978"/>
                <a:ext cx="660400" cy="64633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443B1C3E-AED6-60DA-86A7-0D0F303D21D4}"/>
                  </a:ext>
                </a:extLst>
              </p:cNvPr>
              <p:cNvSpPr/>
              <p:nvPr/>
            </p:nvSpPr>
            <p:spPr>
              <a:xfrm>
                <a:off x="4407222" y="1908586"/>
                <a:ext cx="534040" cy="51711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>
                    <a:solidFill>
                      <a:schemeClr val="tx1"/>
                    </a:solidFill>
                    <a:latin typeface="Amasis MT Pro" panose="02040504050005020304" pitchFamily="18" charset="0"/>
                  </a:rPr>
                  <a:t>2</a:t>
                </a:r>
              </a:p>
            </p:txBody>
          </p:sp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0583C449-9DC4-6160-725D-8EA28F85CF58}"/>
                </a:ext>
              </a:extLst>
            </p:cNvPr>
            <p:cNvGrpSpPr/>
            <p:nvPr/>
          </p:nvGrpSpPr>
          <p:grpSpPr>
            <a:xfrm>
              <a:off x="4394521" y="4530458"/>
              <a:ext cx="660400" cy="646331"/>
              <a:chOff x="4344042" y="1843978"/>
              <a:chExt cx="660400" cy="646331"/>
            </a:xfrm>
          </p:grpSpPr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D45162D9-1A02-3E99-ED37-CF7EDDB5CA8C}"/>
                  </a:ext>
                </a:extLst>
              </p:cNvPr>
              <p:cNvSpPr/>
              <p:nvPr/>
            </p:nvSpPr>
            <p:spPr>
              <a:xfrm>
                <a:off x="4344042" y="1843978"/>
                <a:ext cx="660400" cy="64633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150374EB-CAC1-BF1F-E688-6362B551D7C1}"/>
                  </a:ext>
                </a:extLst>
              </p:cNvPr>
              <p:cNvSpPr/>
              <p:nvPr/>
            </p:nvSpPr>
            <p:spPr>
              <a:xfrm>
                <a:off x="4407222" y="1908586"/>
                <a:ext cx="534040" cy="51711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>
                    <a:solidFill>
                      <a:schemeClr val="tx1"/>
                    </a:solidFill>
                    <a:latin typeface="Amasis MT Pro Black" panose="02040A04050005020304" pitchFamily="18" charset="0"/>
                  </a:rPr>
                  <a:t>3</a:t>
                </a:r>
              </a:p>
            </p:txBody>
          </p:sp>
        </p:grp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4B6A7963-F140-D52A-9A41-9AE196605BF8}"/>
                </a:ext>
              </a:extLst>
            </p:cNvPr>
            <p:cNvGrpSpPr/>
            <p:nvPr/>
          </p:nvGrpSpPr>
          <p:grpSpPr>
            <a:xfrm>
              <a:off x="4394521" y="5600029"/>
              <a:ext cx="660400" cy="646331"/>
              <a:chOff x="4344042" y="1843978"/>
              <a:chExt cx="660400" cy="646331"/>
            </a:xfrm>
          </p:grpSpPr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A4C534CD-012D-1142-3E9D-A9F08647BF88}"/>
                  </a:ext>
                </a:extLst>
              </p:cNvPr>
              <p:cNvSpPr/>
              <p:nvPr/>
            </p:nvSpPr>
            <p:spPr>
              <a:xfrm>
                <a:off x="4344042" y="1843978"/>
                <a:ext cx="660400" cy="64633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6A314B02-8C90-9F3D-BE65-8ED48A57915A}"/>
                  </a:ext>
                </a:extLst>
              </p:cNvPr>
              <p:cNvSpPr/>
              <p:nvPr/>
            </p:nvSpPr>
            <p:spPr>
              <a:xfrm>
                <a:off x="4407222" y="1908586"/>
                <a:ext cx="534040" cy="51711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dirty="0">
                    <a:solidFill>
                      <a:schemeClr val="tx1"/>
                    </a:solidFill>
                    <a:latin typeface="Amasis MT Pro Black" panose="02040A04050005020304" pitchFamily="18" charset="0"/>
                  </a:rPr>
                  <a:t>4</a:t>
                </a: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553FC8DB-F915-967B-85A0-79CF30834B08}"/>
                </a:ext>
              </a:extLst>
            </p:cNvPr>
            <p:cNvSpPr txBox="1"/>
            <p:nvPr/>
          </p:nvSpPr>
          <p:spPr>
            <a:xfrm>
              <a:off x="5112869" y="2087690"/>
              <a:ext cx="64812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b="1" dirty="0">
                  <a:solidFill>
                    <a:schemeClr val="bg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Complex system design </a:t>
              </a:r>
              <a:r>
                <a:rPr lang="en-GB" sz="1800" dirty="0">
                  <a:solidFill>
                    <a:schemeClr val="bg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not suitable for small Kirana shops.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B025CC45-ECCC-BB0A-802C-FFA3FC0EA919}"/>
                </a:ext>
              </a:extLst>
            </p:cNvPr>
            <p:cNvSpPr txBox="1"/>
            <p:nvPr/>
          </p:nvSpPr>
          <p:spPr>
            <a:xfrm>
              <a:off x="5115735" y="3326882"/>
              <a:ext cx="58400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b="1" dirty="0">
                  <a:solidFill>
                    <a:schemeClr val="bg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No predictive </a:t>
              </a:r>
              <a:r>
                <a:rPr lang="en-GB" sz="1800" dirty="0">
                  <a:solidFill>
                    <a:schemeClr val="bg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analysis for low-stock or demand trends.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58D7A325-8E15-1250-8BCD-F147517025F1}"/>
                </a:ext>
              </a:extLst>
            </p:cNvPr>
            <p:cNvSpPr txBox="1"/>
            <p:nvPr/>
          </p:nvSpPr>
          <p:spPr>
            <a:xfrm>
              <a:off x="5115735" y="4668958"/>
              <a:ext cx="63418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b="1" dirty="0">
                  <a:solidFill>
                    <a:schemeClr val="bg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Limited user-friendly </a:t>
              </a:r>
              <a:r>
                <a:rPr lang="en-GB" sz="1800" dirty="0">
                  <a:solidFill>
                    <a:schemeClr val="bg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dashboards for quick decision-making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75A0148C-6916-7A56-CB67-E0D70D8443E6}"/>
                </a:ext>
              </a:extLst>
            </p:cNvPr>
            <p:cNvSpPr txBox="1"/>
            <p:nvPr/>
          </p:nvSpPr>
          <p:spPr>
            <a:xfrm>
              <a:off x="5115735" y="5738529"/>
              <a:ext cx="45320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b="1" dirty="0">
                  <a:solidFill>
                    <a:schemeClr val="bg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No cloud-ready </a:t>
              </a:r>
              <a:r>
                <a:rPr lang="en-GB" sz="1800" dirty="0">
                  <a:solidFill>
                    <a:schemeClr val="bg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architecture for scalability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396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0"/>
        </a:solidFill>
        <a:effectLst/>
      </p:bgPr>
    </p:bg>
    <p:spTree>
      <p:nvGrpSpPr>
        <p:cNvPr id="1" name="Shape 155">
          <a:extLst>
            <a:ext uri="{FF2B5EF4-FFF2-40B4-BE49-F238E27FC236}">
              <a16:creationId xmlns:a16="http://schemas.microsoft.com/office/drawing/2014/main" id="{C838797C-3EE6-703D-DC1D-1358A09E6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>
            <a:extLst>
              <a:ext uri="{FF2B5EF4-FFF2-40B4-BE49-F238E27FC236}">
                <a16:creationId xmlns:a16="http://schemas.microsoft.com/office/drawing/2014/main" id="{A73AE177-61FE-BA4E-E597-EA7A053C2242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5713" cy="6858000"/>
          </a:xfrm>
          <a:prstGeom prst="rect">
            <a:avLst/>
          </a:prstGeom>
          <a:noFill/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165" name="Google Shape;165;p18">
            <a:extLst>
              <a:ext uri="{FF2B5EF4-FFF2-40B4-BE49-F238E27FC236}">
                <a16:creationId xmlns:a16="http://schemas.microsoft.com/office/drawing/2014/main" id="{2F67E9CA-D5EB-8015-141D-1FA4FC02B04D}"/>
              </a:ext>
            </a:extLst>
          </p:cNvPr>
          <p:cNvSpPr txBox="1"/>
          <p:nvPr/>
        </p:nvSpPr>
        <p:spPr>
          <a:xfrm>
            <a:off x="1349713" y="423961"/>
            <a:ext cx="11601450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GB" sz="4400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Enhancements Over Existing System</a:t>
            </a:r>
            <a:endParaRPr sz="4200" b="1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166B358-926D-24BC-20D6-08D9FCA3073B}"/>
              </a:ext>
            </a:extLst>
          </p:cNvPr>
          <p:cNvGrpSpPr/>
          <p:nvPr/>
        </p:nvGrpSpPr>
        <p:grpSpPr>
          <a:xfrm>
            <a:off x="-4705732" y="2783560"/>
            <a:ext cx="7444492" cy="2699874"/>
            <a:chOff x="803543" y="2629736"/>
            <a:chExt cx="5355675" cy="1900721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1B8055A-CD9C-C04B-D251-A1E518AF8EDB}"/>
                </a:ext>
              </a:extLst>
            </p:cNvPr>
            <p:cNvSpPr/>
            <p:nvPr/>
          </p:nvSpPr>
          <p:spPr>
            <a:xfrm>
              <a:off x="4635218" y="2629736"/>
              <a:ext cx="1524000" cy="1498600"/>
            </a:xfrm>
            <a:prstGeom prst="ellips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4" name="Graphic 3" descr="No sign with solid fill">
              <a:extLst>
                <a:ext uri="{FF2B5EF4-FFF2-40B4-BE49-F238E27FC236}">
                  <a16:creationId xmlns:a16="http://schemas.microsoft.com/office/drawing/2014/main" id="{8EAEEC2F-CCEE-2D4B-97AA-E258786CD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3543" y="2860943"/>
              <a:ext cx="1669514" cy="1669514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F03187E-A35D-D16E-CEE1-294157287454}"/>
              </a:ext>
            </a:extLst>
          </p:cNvPr>
          <p:cNvGrpSpPr/>
          <p:nvPr/>
        </p:nvGrpSpPr>
        <p:grpSpPr>
          <a:xfrm>
            <a:off x="489673" y="1525030"/>
            <a:ext cx="11081957" cy="4315950"/>
            <a:chOff x="501489" y="1930410"/>
            <a:chExt cx="11081957" cy="431595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9C498E3-2758-1689-EEFE-A50D32702F60}"/>
                </a:ext>
              </a:extLst>
            </p:cNvPr>
            <p:cNvSpPr/>
            <p:nvPr/>
          </p:nvSpPr>
          <p:spPr>
            <a:xfrm>
              <a:off x="1751009" y="2826399"/>
              <a:ext cx="1310608" cy="2809734"/>
            </a:xfrm>
            <a:custGeom>
              <a:avLst/>
              <a:gdLst>
                <a:gd name="csX0" fmla="*/ 0 w 1028700"/>
                <a:gd name="csY0" fmla="*/ 0 h 2228638"/>
                <a:gd name="csX1" fmla="*/ 48171 w 1028700"/>
                <a:gd name="csY1" fmla="*/ 2489 h 2228638"/>
                <a:gd name="csX2" fmla="*/ 1028700 w 1028700"/>
                <a:gd name="csY2" fmla="*/ 1114319 h 2228638"/>
                <a:gd name="csX3" fmla="*/ 48171 w 1028700"/>
                <a:gd name="csY3" fmla="*/ 2226149 h 2228638"/>
                <a:gd name="csX4" fmla="*/ 0 w 1028700"/>
                <a:gd name="csY4" fmla="*/ 2228638 h 2228638"/>
                <a:gd name="csX5" fmla="*/ 0 w 1028700"/>
                <a:gd name="csY5" fmla="*/ 2088869 h 2228638"/>
                <a:gd name="csX6" fmla="*/ 31575 w 1028700"/>
                <a:gd name="csY6" fmla="*/ 2087203 h 2228638"/>
                <a:gd name="csX7" fmla="*/ 866375 w 1028700"/>
                <a:gd name="csY7" fmla="*/ 1120669 h 2228638"/>
                <a:gd name="csX8" fmla="*/ 31575 w 1028700"/>
                <a:gd name="csY8" fmla="*/ 154135 h 2228638"/>
                <a:gd name="csX9" fmla="*/ 0 w 1028700"/>
                <a:gd name="csY9" fmla="*/ 152469 h 2228638"/>
                <a:gd name="csX10" fmla="*/ 0 w 1028700"/>
                <a:gd name="csY10" fmla="*/ 0 h 22286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28700" h="2228638">
                  <a:moveTo>
                    <a:pt x="0" y="0"/>
                  </a:moveTo>
                  <a:lnTo>
                    <a:pt x="48171" y="2489"/>
                  </a:lnTo>
                  <a:cubicBezTo>
                    <a:pt x="598919" y="59722"/>
                    <a:pt x="1028700" y="535663"/>
                    <a:pt x="1028700" y="1114319"/>
                  </a:cubicBezTo>
                  <a:cubicBezTo>
                    <a:pt x="1028700" y="1692975"/>
                    <a:pt x="598919" y="2168917"/>
                    <a:pt x="48171" y="2226149"/>
                  </a:cubicBezTo>
                  <a:lnTo>
                    <a:pt x="0" y="2228638"/>
                  </a:lnTo>
                  <a:lnTo>
                    <a:pt x="0" y="2088869"/>
                  </a:lnTo>
                  <a:lnTo>
                    <a:pt x="31575" y="2087203"/>
                  </a:lnTo>
                  <a:cubicBezTo>
                    <a:pt x="500470" y="2037450"/>
                    <a:pt x="866375" y="1623705"/>
                    <a:pt x="866375" y="1120669"/>
                  </a:cubicBezTo>
                  <a:cubicBezTo>
                    <a:pt x="866375" y="617633"/>
                    <a:pt x="500470" y="203888"/>
                    <a:pt x="31575" y="154135"/>
                  </a:cubicBezTo>
                  <a:lnTo>
                    <a:pt x="0" y="1524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>
                <a:solidFill>
                  <a:schemeClr val="bg1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9296F0E-501D-1D26-F5C4-EC913CD49837}"/>
                </a:ext>
              </a:extLst>
            </p:cNvPr>
            <p:cNvSpPr/>
            <p:nvPr/>
          </p:nvSpPr>
          <p:spPr>
            <a:xfrm>
              <a:off x="1698618" y="2853418"/>
              <a:ext cx="177800" cy="1651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D77AFC6-1026-0774-1C64-E336A94DDC5B}"/>
                </a:ext>
              </a:extLst>
            </p:cNvPr>
            <p:cNvSpPr/>
            <p:nvPr/>
          </p:nvSpPr>
          <p:spPr>
            <a:xfrm>
              <a:off x="2649862" y="3429000"/>
              <a:ext cx="177800" cy="1651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30F5769-5031-7871-D26B-C75F1FE86ECE}"/>
                </a:ext>
              </a:extLst>
            </p:cNvPr>
            <p:cNvSpPr/>
            <p:nvPr/>
          </p:nvSpPr>
          <p:spPr>
            <a:xfrm>
              <a:off x="2860184" y="4136142"/>
              <a:ext cx="201433" cy="19024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636B9A1-629D-7D40-15F3-F725B30FE410}"/>
                </a:ext>
              </a:extLst>
            </p:cNvPr>
            <p:cNvSpPr/>
            <p:nvPr/>
          </p:nvSpPr>
          <p:spPr>
            <a:xfrm>
              <a:off x="2738762" y="4758502"/>
              <a:ext cx="201433" cy="19024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69D0816-B91E-F96E-5F3D-6A44AD481E14}"/>
                </a:ext>
              </a:extLst>
            </p:cNvPr>
            <p:cNvSpPr/>
            <p:nvPr/>
          </p:nvSpPr>
          <p:spPr>
            <a:xfrm>
              <a:off x="1714676" y="5442393"/>
              <a:ext cx="201433" cy="19024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D88F7E34-9FAC-B41B-49C0-87A63036A24E}"/>
                </a:ext>
              </a:extLst>
            </p:cNvPr>
            <p:cNvCxnSpPr>
              <a:cxnSpLocks/>
              <a:stCxn id="52" idx="0"/>
              <a:endCxn id="146" idx="2"/>
            </p:cNvCxnSpPr>
            <p:nvPr/>
          </p:nvCxnSpPr>
          <p:spPr>
            <a:xfrm rot="5400000" flipH="1" flipV="1">
              <a:off x="2822688" y="1218406"/>
              <a:ext cx="599843" cy="2670183"/>
            </a:xfrm>
            <a:prstGeom prst="bentConnector2">
              <a:avLst/>
            </a:prstGeom>
            <a:ln w="635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: Elbow 61">
              <a:extLst>
                <a:ext uri="{FF2B5EF4-FFF2-40B4-BE49-F238E27FC236}">
                  <a16:creationId xmlns:a16="http://schemas.microsoft.com/office/drawing/2014/main" id="{AF52CA99-E6E7-50EA-ED8E-7F1947D011BA}"/>
                </a:ext>
              </a:extLst>
            </p:cNvPr>
            <p:cNvCxnSpPr>
              <a:cxnSpLocks/>
              <a:stCxn id="53" idx="6"/>
              <a:endCxn id="166" idx="2"/>
            </p:cNvCxnSpPr>
            <p:nvPr/>
          </p:nvCxnSpPr>
          <p:spPr>
            <a:xfrm flipV="1">
              <a:off x="2827662" y="3511547"/>
              <a:ext cx="1630039" cy="3"/>
            </a:xfrm>
            <a:prstGeom prst="bentConnector3">
              <a:avLst>
                <a:gd name="adj1" fmla="val 50000"/>
              </a:avLst>
            </a:prstGeom>
            <a:ln w="635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ctor: Elbow 134">
              <a:extLst>
                <a:ext uri="{FF2B5EF4-FFF2-40B4-BE49-F238E27FC236}">
                  <a16:creationId xmlns:a16="http://schemas.microsoft.com/office/drawing/2014/main" id="{92F6064C-310F-EA95-9B2A-A1D061CBF107}"/>
                </a:ext>
              </a:extLst>
            </p:cNvPr>
            <p:cNvCxnSpPr>
              <a:cxnSpLocks/>
              <a:stCxn id="56" idx="4"/>
              <a:endCxn id="177" idx="2"/>
            </p:cNvCxnSpPr>
            <p:nvPr/>
          </p:nvCxnSpPr>
          <p:spPr>
            <a:xfrm rot="16200000" flipH="1">
              <a:off x="2991269" y="4456762"/>
              <a:ext cx="290556" cy="2642308"/>
            </a:xfrm>
            <a:prstGeom prst="bentConnector2">
              <a:avLst/>
            </a:prstGeom>
            <a:ln w="635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ctor: Elbow 141">
              <a:extLst>
                <a:ext uri="{FF2B5EF4-FFF2-40B4-BE49-F238E27FC236}">
                  <a16:creationId xmlns:a16="http://schemas.microsoft.com/office/drawing/2014/main" id="{7D7DE529-697A-4AB0-20C4-6683E63437E6}"/>
                </a:ext>
              </a:extLst>
            </p:cNvPr>
            <p:cNvCxnSpPr>
              <a:cxnSpLocks/>
              <a:stCxn id="55" idx="6"/>
              <a:endCxn id="169" idx="2"/>
            </p:cNvCxnSpPr>
            <p:nvPr/>
          </p:nvCxnSpPr>
          <p:spPr>
            <a:xfrm flipV="1">
              <a:off x="2940195" y="4853624"/>
              <a:ext cx="1454326" cy="1"/>
            </a:xfrm>
            <a:prstGeom prst="bentConnector3">
              <a:avLst>
                <a:gd name="adj1" fmla="val 50000"/>
              </a:avLst>
            </a:prstGeom>
            <a:ln w="635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AB988378-2091-1EC5-F84B-767550E34213}"/>
                </a:ext>
              </a:extLst>
            </p:cNvPr>
            <p:cNvGrpSpPr/>
            <p:nvPr/>
          </p:nvGrpSpPr>
          <p:grpSpPr>
            <a:xfrm>
              <a:off x="4394521" y="1930410"/>
              <a:ext cx="660400" cy="646331"/>
              <a:chOff x="4344042" y="1843978"/>
              <a:chExt cx="660400" cy="646331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6EE018FF-BB11-39DC-10C6-50FD6F8DCA92}"/>
                  </a:ext>
                </a:extLst>
              </p:cNvPr>
              <p:cNvSpPr/>
              <p:nvPr/>
            </p:nvSpPr>
            <p:spPr>
              <a:xfrm>
                <a:off x="4344042" y="1843978"/>
                <a:ext cx="660400" cy="64633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84E931AB-45B9-AE06-C74B-DD6BDCF31BF2}"/>
                  </a:ext>
                </a:extLst>
              </p:cNvPr>
              <p:cNvSpPr/>
              <p:nvPr/>
            </p:nvSpPr>
            <p:spPr>
              <a:xfrm>
                <a:off x="4407222" y="1908586"/>
                <a:ext cx="534040" cy="51711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>
                    <a:solidFill>
                      <a:schemeClr val="tx1"/>
                    </a:solidFill>
                    <a:latin typeface="Amasis MT Pro Black" panose="02040A04050005020304" pitchFamily="18" charset="0"/>
                  </a:rPr>
                  <a:t>1</a:t>
                </a:r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83044EC1-39CD-3843-1C3F-F7446EAB4C1A}"/>
                </a:ext>
              </a:extLst>
            </p:cNvPr>
            <p:cNvGrpSpPr/>
            <p:nvPr/>
          </p:nvGrpSpPr>
          <p:grpSpPr>
            <a:xfrm>
              <a:off x="4394521" y="3188382"/>
              <a:ext cx="660400" cy="646331"/>
              <a:chOff x="4344042" y="1843978"/>
              <a:chExt cx="660400" cy="646331"/>
            </a:xfrm>
          </p:grpSpPr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8885320C-3F44-C37C-9CFD-0AB11F276CC4}"/>
                  </a:ext>
                </a:extLst>
              </p:cNvPr>
              <p:cNvSpPr/>
              <p:nvPr/>
            </p:nvSpPr>
            <p:spPr>
              <a:xfrm>
                <a:off x="4344042" y="1843978"/>
                <a:ext cx="660400" cy="64633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D611EBC9-7422-5D61-7011-3A0F8CCE3BC1}"/>
                  </a:ext>
                </a:extLst>
              </p:cNvPr>
              <p:cNvSpPr/>
              <p:nvPr/>
            </p:nvSpPr>
            <p:spPr>
              <a:xfrm>
                <a:off x="4407222" y="1908586"/>
                <a:ext cx="534040" cy="51711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>
                    <a:solidFill>
                      <a:schemeClr val="tx1"/>
                    </a:solidFill>
                    <a:latin typeface="Amasis MT Pro" panose="02040504050005020304" pitchFamily="18" charset="0"/>
                  </a:rPr>
                  <a:t>2</a:t>
                </a:r>
              </a:p>
            </p:txBody>
          </p:sp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ED196BA2-F939-526A-E41B-51D4999D3F59}"/>
                </a:ext>
              </a:extLst>
            </p:cNvPr>
            <p:cNvGrpSpPr/>
            <p:nvPr/>
          </p:nvGrpSpPr>
          <p:grpSpPr>
            <a:xfrm>
              <a:off x="4394521" y="4530458"/>
              <a:ext cx="660400" cy="646331"/>
              <a:chOff x="4344042" y="1843978"/>
              <a:chExt cx="660400" cy="646331"/>
            </a:xfrm>
          </p:grpSpPr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77765021-1985-7E2B-8ECA-9A0094C887A6}"/>
                  </a:ext>
                </a:extLst>
              </p:cNvPr>
              <p:cNvSpPr/>
              <p:nvPr/>
            </p:nvSpPr>
            <p:spPr>
              <a:xfrm>
                <a:off x="4344042" y="1843978"/>
                <a:ext cx="660400" cy="64633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A05E8C7F-4519-DC77-122C-3F28196BFDEF}"/>
                  </a:ext>
                </a:extLst>
              </p:cNvPr>
              <p:cNvSpPr/>
              <p:nvPr/>
            </p:nvSpPr>
            <p:spPr>
              <a:xfrm>
                <a:off x="4407222" y="1908586"/>
                <a:ext cx="534040" cy="51711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b="1" dirty="0">
                    <a:solidFill>
                      <a:schemeClr val="tx1"/>
                    </a:solidFill>
                    <a:latin typeface="Amasis MT Pro Black" panose="02040A04050005020304" pitchFamily="18" charset="0"/>
                  </a:rPr>
                  <a:t>3</a:t>
                </a:r>
              </a:p>
            </p:txBody>
          </p:sp>
        </p:grp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39E2BDDC-B741-D492-431B-41A1726C4698}"/>
                </a:ext>
              </a:extLst>
            </p:cNvPr>
            <p:cNvGrpSpPr/>
            <p:nvPr/>
          </p:nvGrpSpPr>
          <p:grpSpPr>
            <a:xfrm>
              <a:off x="4394521" y="5600029"/>
              <a:ext cx="660400" cy="646331"/>
              <a:chOff x="4344042" y="1843978"/>
              <a:chExt cx="660400" cy="646331"/>
            </a:xfrm>
          </p:grpSpPr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BB4101D9-C8B4-DFC7-8158-AA749EFD63B0}"/>
                  </a:ext>
                </a:extLst>
              </p:cNvPr>
              <p:cNvSpPr/>
              <p:nvPr/>
            </p:nvSpPr>
            <p:spPr>
              <a:xfrm>
                <a:off x="4344042" y="1843978"/>
                <a:ext cx="660400" cy="646331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E70FE3E2-D0DE-E91C-B089-072A96C4FAD6}"/>
                  </a:ext>
                </a:extLst>
              </p:cNvPr>
              <p:cNvSpPr/>
              <p:nvPr/>
            </p:nvSpPr>
            <p:spPr>
              <a:xfrm>
                <a:off x="4407222" y="1908586"/>
                <a:ext cx="534040" cy="51711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800" dirty="0">
                    <a:solidFill>
                      <a:schemeClr val="tx1"/>
                    </a:solidFill>
                    <a:latin typeface="Amasis MT Pro Black" panose="02040A04050005020304" pitchFamily="18" charset="0"/>
                  </a:rPr>
                  <a:t>4</a:t>
                </a: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47B05342-9EFB-2018-B1B0-E4AB1F006270}"/>
                </a:ext>
              </a:extLst>
            </p:cNvPr>
            <p:cNvSpPr txBox="1"/>
            <p:nvPr/>
          </p:nvSpPr>
          <p:spPr>
            <a:xfrm>
              <a:off x="5112869" y="2087690"/>
              <a:ext cx="5211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b="1" dirty="0">
                  <a:solidFill>
                    <a:schemeClr val="bg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Simplified UI &amp; workflow</a:t>
              </a:r>
              <a:r>
                <a:rPr lang="en-GB" sz="1800" dirty="0">
                  <a:solidFill>
                    <a:schemeClr val="bg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 for Kirana shop owners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4661CB1A-8D15-E463-6431-7470B05C999F}"/>
                </a:ext>
              </a:extLst>
            </p:cNvPr>
            <p:cNvSpPr txBox="1"/>
            <p:nvPr/>
          </p:nvSpPr>
          <p:spPr>
            <a:xfrm>
              <a:off x="5115736" y="3326882"/>
              <a:ext cx="64677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800" b="1" dirty="0">
                  <a:solidFill>
                    <a:schemeClr val="bg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Visual live dashboard</a:t>
              </a:r>
              <a:r>
                <a:rPr lang="en-GB" sz="1800" dirty="0">
                  <a:solidFill>
                    <a:schemeClr val="bg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 for instant understanding</a:t>
              </a: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E1850175-2047-0620-A4CD-AE96E84036E8}"/>
                </a:ext>
              </a:extLst>
            </p:cNvPr>
            <p:cNvSpPr txBox="1"/>
            <p:nvPr/>
          </p:nvSpPr>
          <p:spPr>
            <a:xfrm>
              <a:off x="5115735" y="4668958"/>
              <a:ext cx="48141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b="1" dirty="0">
                  <a:solidFill>
                    <a:schemeClr val="bg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Low-stock alerts </a:t>
              </a:r>
              <a:r>
                <a:rPr lang="en-GB" sz="1800" dirty="0">
                  <a:solidFill>
                    <a:schemeClr val="bg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and analytics-ready design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EAB90728-EC35-67A3-D154-425AFA0FE9F3}"/>
                </a:ext>
              </a:extLst>
            </p:cNvPr>
            <p:cNvSpPr txBox="1"/>
            <p:nvPr/>
          </p:nvSpPr>
          <p:spPr>
            <a:xfrm>
              <a:off x="5115735" y="5738529"/>
              <a:ext cx="42194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b="1" dirty="0">
                  <a:solidFill>
                    <a:schemeClr val="bg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Cloud-ready </a:t>
              </a:r>
              <a:r>
                <a:rPr lang="en-GB" sz="1800" dirty="0">
                  <a:solidFill>
                    <a:schemeClr val="bg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architecture for scalability</a:t>
              </a:r>
            </a:p>
          </p:txBody>
        </p:sp>
        <p:pic>
          <p:nvPicPr>
            <p:cNvPr id="6" name="Graphic 5" descr="Badge Tick with solid fill">
              <a:extLst>
                <a:ext uri="{FF2B5EF4-FFF2-40B4-BE49-F238E27FC236}">
                  <a16:creationId xmlns:a16="http://schemas.microsoft.com/office/drawing/2014/main" id="{A78FE10C-2DB2-C3BA-5668-09FFD2168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01489" y="3045108"/>
              <a:ext cx="2337989" cy="23379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7039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0"/>
        </a:solidFill>
        <a:effectLst/>
      </p:bgPr>
    </p:bg>
    <p:spTree>
      <p:nvGrpSpPr>
        <p:cNvPr id="1" name="Shape 155">
          <a:extLst>
            <a:ext uri="{FF2B5EF4-FFF2-40B4-BE49-F238E27FC236}">
              <a16:creationId xmlns:a16="http://schemas.microsoft.com/office/drawing/2014/main" id="{FE51CBDE-2959-3137-493A-B1CE68BF5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>
            <a:extLst>
              <a:ext uri="{FF2B5EF4-FFF2-40B4-BE49-F238E27FC236}">
                <a16:creationId xmlns:a16="http://schemas.microsoft.com/office/drawing/2014/main" id="{78818E0E-FB99-ED47-E0BA-8B7C54E9893B}"/>
              </a:ext>
            </a:extLst>
          </p:cNvPr>
          <p:cNvSpPr txBox="1"/>
          <p:nvPr/>
        </p:nvSpPr>
        <p:spPr>
          <a:xfrm>
            <a:off x="590550" y="1218019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 sz="4200" b="1" dirty="0">
                <a:solidFill>
                  <a:schemeClr val="bg1"/>
                </a:solidFill>
              </a:rPr>
              <a:t>System Analysis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F463D14-C667-724A-0C66-14AF9515DD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825817" cy="2825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4DFFE01-208C-B579-BD1A-295EB5F39201}"/>
              </a:ext>
            </a:extLst>
          </p:cNvPr>
          <p:cNvGrpSpPr/>
          <p:nvPr/>
        </p:nvGrpSpPr>
        <p:grpSpPr>
          <a:xfrm>
            <a:off x="8029875" y="1298292"/>
            <a:ext cx="3003082" cy="3771781"/>
            <a:chOff x="7267875" y="1704692"/>
            <a:chExt cx="3003082" cy="3771781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AB57E90-C522-080B-F0C2-52448891E524}"/>
                </a:ext>
              </a:extLst>
            </p:cNvPr>
            <p:cNvSpPr/>
            <p:nvPr/>
          </p:nvSpPr>
          <p:spPr>
            <a:xfrm>
              <a:off x="7267875" y="1704692"/>
              <a:ext cx="3003082" cy="646331"/>
            </a:xfrm>
            <a:prstGeom prst="roundRect">
              <a:avLst/>
            </a:prstGeom>
            <a:solidFill>
              <a:schemeClr val="bg2">
                <a:lumMod val="60000"/>
                <a:lumOff val="40000"/>
              </a:schemeClr>
            </a:solidFill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User (Browser)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46C3D42-C7D6-EBCF-2107-BCDF1F92F28E}"/>
                </a:ext>
              </a:extLst>
            </p:cNvPr>
            <p:cNvSpPr/>
            <p:nvPr/>
          </p:nvSpPr>
          <p:spPr>
            <a:xfrm>
              <a:off x="7267875" y="2730128"/>
              <a:ext cx="3003082" cy="646331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React Dashboard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E91E198-435B-BF59-E14E-480FA83954DE}"/>
                </a:ext>
              </a:extLst>
            </p:cNvPr>
            <p:cNvSpPr/>
            <p:nvPr/>
          </p:nvSpPr>
          <p:spPr>
            <a:xfrm>
              <a:off x="7267875" y="3809427"/>
              <a:ext cx="3003082" cy="646331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Spring Boot API’s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3B4C96D-B1CF-F8DE-F4A3-83DC90923528}"/>
                </a:ext>
              </a:extLst>
            </p:cNvPr>
            <p:cNvSpPr/>
            <p:nvPr/>
          </p:nvSpPr>
          <p:spPr>
            <a:xfrm>
              <a:off x="7267875" y="4830142"/>
              <a:ext cx="3003082" cy="646331"/>
            </a:xfrm>
            <a:prstGeom prst="round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    PostgreSQL Database </a:t>
              </a:r>
            </a:p>
          </p:txBody>
        </p:sp>
        <p:pic>
          <p:nvPicPr>
            <p:cNvPr id="17" name="Graphic 16" descr="Employee badge with solid fill">
              <a:extLst>
                <a:ext uri="{FF2B5EF4-FFF2-40B4-BE49-F238E27FC236}">
                  <a16:creationId xmlns:a16="http://schemas.microsoft.com/office/drawing/2014/main" id="{3AF8CE36-349D-19E2-706A-87EA215F8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38724" y="1801439"/>
              <a:ext cx="434741" cy="434741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3BEB740-55BB-0733-F9E5-1474079CA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38724" y="2851562"/>
              <a:ext cx="415893" cy="41589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DF4A3419-EEFA-B03D-43CA-AB12595FE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07039" y="3864418"/>
              <a:ext cx="498109" cy="536347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42959CDB-516C-EEFD-B1CD-12896DC1C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61921" y="4915980"/>
              <a:ext cx="516158" cy="516158"/>
            </a:xfrm>
            <a:prstGeom prst="rect">
              <a:avLst/>
            </a:prstGeom>
          </p:spPr>
        </p:pic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8739C2D7-9FE2-B0C5-9EC4-394063A4CECF}"/>
                </a:ext>
              </a:extLst>
            </p:cNvPr>
            <p:cNvCxnSpPr>
              <a:stCxn id="11" idx="2"/>
              <a:endCxn id="12" idx="0"/>
            </p:cNvCxnSpPr>
            <p:nvPr/>
          </p:nvCxnSpPr>
          <p:spPr>
            <a:xfrm>
              <a:off x="8769416" y="2351023"/>
              <a:ext cx="0" cy="379105"/>
            </a:xfrm>
            <a:prstGeom prst="straightConnector1">
              <a:avLst/>
            </a:prstGeom>
            <a:ln w="4762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638CAF8-0E34-4734-3939-73082DA67875}"/>
                </a:ext>
              </a:extLst>
            </p:cNvPr>
            <p:cNvCxnSpPr>
              <a:cxnSpLocks/>
              <a:stCxn id="12" idx="2"/>
              <a:endCxn id="13" idx="0"/>
            </p:cNvCxnSpPr>
            <p:nvPr/>
          </p:nvCxnSpPr>
          <p:spPr>
            <a:xfrm>
              <a:off x="8769416" y="3376459"/>
              <a:ext cx="0" cy="432968"/>
            </a:xfrm>
            <a:prstGeom prst="straightConnector1">
              <a:avLst/>
            </a:prstGeom>
            <a:ln w="47625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9A6459B-7841-5FC5-AE81-C1FF7554A09D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>
              <a:off x="8769416" y="4455758"/>
              <a:ext cx="0" cy="374384"/>
            </a:xfrm>
            <a:prstGeom prst="straightConnector1">
              <a:avLst/>
            </a:prstGeom>
            <a:ln w="47625">
              <a:solidFill>
                <a:schemeClr val="accent1">
                  <a:lumMod val="20000"/>
                  <a:lumOff val="8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DA2B3B1-F79B-EDA1-8E02-D2B0C6D43CC2}"/>
              </a:ext>
            </a:extLst>
          </p:cNvPr>
          <p:cNvGrpSpPr/>
          <p:nvPr/>
        </p:nvGrpSpPr>
        <p:grpSpPr>
          <a:xfrm>
            <a:off x="590550" y="2573528"/>
            <a:ext cx="6610891" cy="2028602"/>
            <a:chOff x="656984" y="2139062"/>
            <a:chExt cx="6610891" cy="2028602"/>
          </a:xfrm>
        </p:grpSpPr>
        <p:sp>
          <p:nvSpPr>
            <p:cNvPr id="2" name="Google Shape;165;p18">
              <a:extLst>
                <a:ext uri="{FF2B5EF4-FFF2-40B4-BE49-F238E27FC236}">
                  <a16:creationId xmlns:a16="http://schemas.microsoft.com/office/drawing/2014/main" id="{57D131E9-611A-FF0B-76A5-5F6922AF22C1}"/>
                </a:ext>
              </a:extLst>
            </p:cNvPr>
            <p:cNvSpPr txBox="1"/>
            <p:nvPr/>
          </p:nvSpPr>
          <p:spPr>
            <a:xfrm>
              <a:off x="704344" y="2139062"/>
              <a:ext cx="391247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r>
                <a:rPr lang="en-GB" sz="2400" b="1" dirty="0">
                  <a:solidFill>
                    <a:schemeClr val="accent3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Proposed System Overview</a:t>
              </a:r>
            </a:p>
          </p:txBody>
        </p:sp>
        <p:sp>
          <p:nvSpPr>
            <p:cNvPr id="40" name="Rectangle 7">
              <a:extLst>
                <a:ext uri="{FF2B5EF4-FFF2-40B4-BE49-F238E27FC236}">
                  <a16:creationId xmlns:a16="http://schemas.microsoft.com/office/drawing/2014/main" id="{05079F6F-A7FD-7C6E-2532-C7D66D932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984" y="2690336"/>
              <a:ext cx="6610891" cy="1477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 Web-based inventory management system for Kirana shops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 Real-time stock tracking with automatic updates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 Live dashboard for instant inventory visibility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3183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0"/>
        </a:solidFill>
        <a:effectLst/>
      </p:bgPr>
    </p:bg>
    <p:spTree>
      <p:nvGrpSpPr>
        <p:cNvPr id="1" name="Shape 155">
          <a:extLst>
            <a:ext uri="{FF2B5EF4-FFF2-40B4-BE49-F238E27FC236}">
              <a16:creationId xmlns:a16="http://schemas.microsoft.com/office/drawing/2014/main" id="{A4FB0E41-C966-31F6-93B6-23006C2E3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156;p18" descr="image.png">
            <a:extLst>
              <a:ext uri="{FF2B5EF4-FFF2-40B4-BE49-F238E27FC236}">
                <a16:creationId xmlns:a16="http://schemas.microsoft.com/office/drawing/2014/main" id="{0F8840B5-85AC-C973-0875-210253BCD77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>
            <a:extLst>
              <a:ext uri="{FF2B5EF4-FFF2-40B4-BE49-F238E27FC236}">
                <a16:creationId xmlns:a16="http://schemas.microsoft.com/office/drawing/2014/main" id="{11550620-2802-45F4-C404-7741EB1940E6}"/>
              </a:ext>
            </a:extLst>
          </p:cNvPr>
          <p:cNvSpPr txBox="1"/>
          <p:nvPr/>
        </p:nvSpPr>
        <p:spPr>
          <a:xfrm>
            <a:off x="571500" y="571500"/>
            <a:ext cx="1160145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System Analysis</a:t>
            </a:r>
            <a:endParaRPr dirty="0"/>
          </a:p>
        </p:txBody>
      </p:sp>
      <p:sp>
        <p:nvSpPr>
          <p:cNvPr id="29" name="Google Shape;165;p18">
            <a:extLst>
              <a:ext uri="{FF2B5EF4-FFF2-40B4-BE49-F238E27FC236}">
                <a16:creationId xmlns:a16="http://schemas.microsoft.com/office/drawing/2014/main" id="{A85922D5-EEBE-E7DB-84B3-E08CC20F5874}"/>
              </a:ext>
            </a:extLst>
          </p:cNvPr>
          <p:cNvSpPr txBox="1"/>
          <p:nvPr/>
        </p:nvSpPr>
        <p:spPr>
          <a:xfrm>
            <a:off x="669956" y="1826747"/>
            <a:ext cx="32497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92D050"/>
                </a:solidFill>
                <a:latin typeface="Urbanist"/>
                <a:ea typeface="Urbanist"/>
                <a:cs typeface="Urbanist"/>
                <a:sym typeface="Urbanist"/>
              </a:rPr>
              <a:t>Software Requirement</a:t>
            </a:r>
            <a:endParaRPr sz="2400" dirty="0">
              <a:solidFill>
                <a:srgbClr val="92D050"/>
              </a:solidFill>
            </a:endParaRPr>
          </a:p>
        </p:txBody>
      </p:sp>
      <p:sp>
        <p:nvSpPr>
          <p:cNvPr id="33" name="Google Shape;165;p18">
            <a:extLst>
              <a:ext uri="{FF2B5EF4-FFF2-40B4-BE49-F238E27FC236}">
                <a16:creationId xmlns:a16="http://schemas.microsoft.com/office/drawing/2014/main" id="{E6C676B6-5EAC-B01D-4326-240A9361E447}"/>
              </a:ext>
            </a:extLst>
          </p:cNvPr>
          <p:cNvSpPr txBox="1"/>
          <p:nvPr/>
        </p:nvSpPr>
        <p:spPr>
          <a:xfrm>
            <a:off x="669956" y="2465586"/>
            <a:ext cx="2963181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solidFill>
                  <a:schemeClr val="accent3"/>
                </a:solidFill>
              </a:rPr>
              <a:t>1. </a:t>
            </a:r>
            <a:r>
              <a:rPr lang="en-GB" sz="1800" dirty="0">
                <a:solidFill>
                  <a:schemeClr val="bg1"/>
                </a:solidFill>
              </a:rPr>
              <a:t>Frontend: React.js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solidFill>
                  <a:schemeClr val="accent3"/>
                </a:solidFill>
              </a:rPr>
              <a:t>2. </a:t>
            </a:r>
            <a:r>
              <a:rPr lang="en-GB" sz="1800" dirty="0">
                <a:solidFill>
                  <a:schemeClr val="bg1"/>
                </a:solidFill>
              </a:rPr>
              <a:t>Backend: Spring Boot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solidFill>
                  <a:schemeClr val="accent3"/>
                </a:solidFill>
              </a:rPr>
              <a:t>3. </a:t>
            </a:r>
            <a:r>
              <a:rPr lang="en-GB" sz="1800" dirty="0">
                <a:solidFill>
                  <a:schemeClr val="bg1"/>
                </a:solidFill>
              </a:rPr>
              <a:t>PostgreSQL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solidFill>
                  <a:schemeClr val="accent3"/>
                </a:solidFill>
              </a:rPr>
              <a:t>4</a:t>
            </a:r>
            <a:r>
              <a:rPr lang="en-GB" sz="1800" dirty="0">
                <a:solidFill>
                  <a:schemeClr val="bg1"/>
                </a:solidFill>
              </a:rPr>
              <a:t>. ORM: JPA / Hibernate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solidFill>
                  <a:schemeClr val="accent3"/>
                </a:solidFill>
              </a:rPr>
              <a:t>5. </a:t>
            </a:r>
            <a:r>
              <a:rPr lang="en-GB" sz="1800" dirty="0">
                <a:solidFill>
                  <a:schemeClr val="bg1"/>
                </a:solidFill>
              </a:rPr>
              <a:t>OS: Windows / Linux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solidFill>
                  <a:schemeClr val="accent3"/>
                </a:solidFill>
              </a:rPr>
              <a:t>6. </a:t>
            </a:r>
            <a:r>
              <a:rPr lang="en-GB" sz="1800" dirty="0">
                <a:solidFill>
                  <a:schemeClr val="bg1"/>
                </a:solidFill>
              </a:rPr>
              <a:t>Browser: Chrome/Firefox</a:t>
            </a:r>
          </a:p>
          <a:p>
            <a:pPr marR="0" lvl="0" rtl="0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solidFill>
                  <a:srgbClr val="92D050"/>
                </a:solidFill>
              </a:rPr>
              <a:t>7. </a:t>
            </a:r>
            <a:r>
              <a:rPr lang="en-GB" sz="1800" dirty="0">
                <a:solidFill>
                  <a:schemeClr val="bg1"/>
                </a:solidFill>
              </a:rPr>
              <a:t>AWS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DA693CD-3022-89D0-0F6B-65EFCD9C44F0}"/>
              </a:ext>
            </a:extLst>
          </p:cNvPr>
          <p:cNvSpPr/>
          <p:nvPr/>
        </p:nvSpPr>
        <p:spPr>
          <a:xfrm>
            <a:off x="7584707" y="894665"/>
            <a:ext cx="1790299" cy="1661993"/>
          </a:xfrm>
          <a:prstGeom prst="ellipse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011DDFC-6449-3D7B-75F8-5EBDFD92F80E}"/>
              </a:ext>
            </a:extLst>
          </p:cNvPr>
          <p:cNvSpPr/>
          <p:nvPr/>
        </p:nvSpPr>
        <p:spPr>
          <a:xfrm>
            <a:off x="7679981" y="1001251"/>
            <a:ext cx="1599749" cy="144882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37" name="Graphic 36" descr="Ui Ux outline">
            <a:extLst>
              <a:ext uri="{FF2B5EF4-FFF2-40B4-BE49-F238E27FC236}">
                <a16:creationId xmlns:a16="http://schemas.microsoft.com/office/drawing/2014/main" id="{BC93614D-D1E8-C9D5-6E2A-24B04EE229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28564" y="1174370"/>
            <a:ext cx="1102581" cy="1102581"/>
          </a:xfrm>
          <a:prstGeom prst="rect">
            <a:avLst/>
          </a:prstGeo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F14956B3-19ED-7BC5-F306-486B49109DA2}"/>
              </a:ext>
            </a:extLst>
          </p:cNvPr>
          <p:cNvSpPr/>
          <p:nvPr/>
        </p:nvSpPr>
        <p:spPr>
          <a:xfrm>
            <a:off x="5332707" y="3297395"/>
            <a:ext cx="1357162" cy="1297892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032A0B8-3A26-E776-C085-C84E239D31A4}"/>
              </a:ext>
            </a:extLst>
          </p:cNvPr>
          <p:cNvSpPr/>
          <p:nvPr/>
        </p:nvSpPr>
        <p:spPr>
          <a:xfrm>
            <a:off x="6906126" y="3296582"/>
            <a:ext cx="1357162" cy="129789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C859A99-EEAA-E2FC-65EE-56F81AA41190}"/>
              </a:ext>
            </a:extLst>
          </p:cNvPr>
          <p:cNvSpPr/>
          <p:nvPr/>
        </p:nvSpPr>
        <p:spPr>
          <a:xfrm>
            <a:off x="7801273" y="4788095"/>
            <a:ext cx="1357162" cy="12978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51E25FB-E069-1841-59EB-9F7C94A556A8}"/>
              </a:ext>
            </a:extLst>
          </p:cNvPr>
          <p:cNvSpPr/>
          <p:nvPr/>
        </p:nvSpPr>
        <p:spPr>
          <a:xfrm>
            <a:off x="8781473" y="3236060"/>
            <a:ext cx="1357162" cy="129789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8B62580E-C070-FB64-42CB-998DDEBCABA1}"/>
              </a:ext>
            </a:extLst>
          </p:cNvPr>
          <p:cNvCxnSpPr>
            <a:stCxn id="34" idx="2"/>
            <a:endCxn id="44" idx="0"/>
          </p:cNvCxnSpPr>
          <p:nvPr/>
        </p:nvCxnSpPr>
        <p:spPr>
          <a:xfrm rot="10800000" flipV="1">
            <a:off x="6011289" y="1725661"/>
            <a:ext cx="1573419" cy="1571733"/>
          </a:xfrm>
          <a:prstGeom prst="bentConnector2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3C6AECC1-5E8A-6C95-BFB2-591398D57717}"/>
              </a:ext>
            </a:extLst>
          </p:cNvPr>
          <p:cNvCxnSpPr>
            <a:stCxn id="34" idx="3"/>
            <a:endCxn id="48" idx="0"/>
          </p:cNvCxnSpPr>
          <p:nvPr/>
        </p:nvCxnSpPr>
        <p:spPr>
          <a:xfrm rot="5400000">
            <a:off x="7224141" y="2673832"/>
            <a:ext cx="983317" cy="262183"/>
          </a:xfrm>
          <a:prstGeom prst="bentConnector3">
            <a:avLst/>
          </a:prstGeom>
          <a:ln w="508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167BB616-B325-E40B-F168-8C59257A08F6}"/>
              </a:ext>
            </a:extLst>
          </p:cNvPr>
          <p:cNvCxnSpPr>
            <a:cxnSpLocks/>
            <a:stCxn id="34" idx="4"/>
            <a:endCxn id="49" idx="0"/>
          </p:cNvCxnSpPr>
          <p:nvPr/>
        </p:nvCxnSpPr>
        <p:spPr>
          <a:xfrm rot="5400000">
            <a:off x="7364138" y="3672375"/>
            <a:ext cx="2231437" cy="3"/>
          </a:xfrm>
          <a:prstGeom prst="bentConnector3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F7EE7A31-D949-644F-B40C-BFA8A94A5B13}"/>
              </a:ext>
            </a:extLst>
          </p:cNvPr>
          <p:cNvCxnSpPr>
            <a:cxnSpLocks/>
            <a:stCxn id="34" idx="5"/>
            <a:endCxn id="50" idx="0"/>
          </p:cNvCxnSpPr>
          <p:nvPr/>
        </p:nvCxnSpPr>
        <p:spPr>
          <a:xfrm rot="16200000" flipH="1">
            <a:off x="8825041" y="2601046"/>
            <a:ext cx="922795" cy="347231"/>
          </a:xfrm>
          <a:prstGeom prst="bentConnector3">
            <a:avLst>
              <a:gd name="adj1" fmla="val 50000"/>
            </a:avLst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19880E54-D2E8-49C6-6A94-D5FFD4A5D854}"/>
              </a:ext>
            </a:extLst>
          </p:cNvPr>
          <p:cNvCxnSpPr>
            <a:cxnSpLocks/>
            <a:stCxn id="34" idx="6"/>
            <a:endCxn id="130" idx="0"/>
          </p:cNvCxnSpPr>
          <p:nvPr/>
        </p:nvCxnSpPr>
        <p:spPr>
          <a:xfrm>
            <a:off x="9375006" y="1725662"/>
            <a:ext cx="1610640" cy="1570920"/>
          </a:xfrm>
          <a:prstGeom prst="bentConnector2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43BA342F-E8A0-4458-62FE-09081D941670}"/>
              </a:ext>
            </a:extLst>
          </p:cNvPr>
          <p:cNvSpPr/>
          <p:nvPr/>
        </p:nvSpPr>
        <p:spPr>
          <a:xfrm>
            <a:off x="10307065" y="3296582"/>
            <a:ext cx="1357162" cy="129789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3B4042-C218-3C40-F076-7A4761219E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3676" y="3543300"/>
            <a:ext cx="794603" cy="79460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B9BD75-F3D1-5082-E6F9-A9DDDAEA1D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5633" y="3415070"/>
            <a:ext cx="985279" cy="106091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E22126-4D70-2CAD-E006-70EBB8536B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729" y="5037620"/>
            <a:ext cx="956249" cy="956249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5EBB77-3F29-F677-8C11-D75287E48E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5164" y="3446615"/>
            <a:ext cx="829780" cy="82978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F9573F-DC98-0926-0BE1-A7EED35F25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09396" y="3492208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776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0"/>
        </a:solidFill>
        <a:effectLst/>
      </p:bgPr>
    </p:bg>
    <p:spTree>
      <p:nvGrpSpPr>
        <p:cNvPr id="1" name="Shape 155">
          <a:extLst>
            <a:ext uri="{FF2B5EF4-FFF2-40B4-BE49-F238E27FC236}">
              <a16:creationId xmlns:a16="http://schemas.microsoft.com/office/drawing/2014/main" id="{BA76C1BC-322A-0ABA-7530-9DC7E3A05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>
            <a:extLst>
              <a:ext uri="{FF2B5EF4-FFF2-40B4-BE49-F238E27FC236}">
                <a16:creationId xmlns:a16="http://schemas.microsoft.com/office/drawing/2014/main" id="{AE697ED3-89C6-608B-3D0A-B05F4D6CB950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>
            <a:extLst>
              <a:ext uri="{FF2B5EF4-FFF2-40B4-BE49-F238E27FC236}">
                <a16:creationId xmlns:a16="http://schemas.microsoft.com/office/drawing/2014/main" id="{A66A6AB1-4CC7-54CB-52B7-0B546DB4E4E2}"/>
              </a:ext>
            </a:extLst>
          </p:cNvPr>
          <p:cNvSpPr txBox="1"/>
          <p:nvPr/>
        </p:nvSpPr>
        <p:spPr>
          <a:xfrm>
            <a:off x="377687" y="1149418"/>
            <a:ext cx="25908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 b="1" dirty="0">
                <a:solidFill>
                  <a:srgbClr val="92D050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Urbanist"/>
              </a:rPr>
              <a:t>Software Requirement</a:t>
            </a:r>
            <a:endParaRPr lang="en-US" sz="1800" dirty="0">
              <a:solidFill>
                <a:srgbClr val="92D050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92D050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2" name="Google Shape;165;p18">
            <a:extLst>
              <a:ext uri="{FF2B5EF4-FFF2-40B4-BE49-F238E27FC236}">
                <a16:creationId xmlns:a16="http://schemas.microsoft.com/office/drawing/2014/main" id="{71EBEA2E-3511-2EA3-B8C1-566B7B5007E1}"/>
              </a:ext>
            </a:extLst>
          </p:cNvPr>
          <p:cNvSpPr txBox="1"/>
          <p:nvPr/>
        </p:nvSpPr>
        <p:spPr>
          <a:xfrm>
            <a:off x="206237" y="343452"/>
            <a:ext cx="55245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SYSTEM DESIGN</a:t>
            </a:r>
            <a:endParaRPr sz="4200" b="1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068BF9-94B0-9DDA-5690-6FF744DDB22F}"/>
              </a:ext>
            </a:extLst>
          </p:cNvPr>
          <p:cNvSpPr/>
          <p:nvPr/>
        </p:nvSpPr>
        <p:spPr>
          <a:xfrm>
            <a:off x="765110" y="1887233"/>
            <a:ext cx="3041780" cy="4121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800FC4-70AD-7203-78A7-8BCE7D25BE9D}"/>
              </a:ext>
            </a:extLst>
          </p:cNvPr>
          <p:cNvSpPr/>
          <p:nvPr/>
        </p:nvSpPr>
        <p:spPr>
          <a:xfrm>
            <a:off x="957262" y="1981731"/>
            <a:ext cx="2657475" cy="285219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CLIENT TIRE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CB1D86-0AB8-BDCB-66B3-9C1E9C128B64}"/>
              </a:ext>
            </a:extLst>
          </p:cNvPr>
          <p:cNvSpPr/>
          <p:nvPr/>
        </p:nvSpPr>
        <p:spPr>
          <a:xfrm>
            <a:off x="957261" y="2483325"/>
            <a:ext cx="2657475" cy="781050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React Frontend</a:t>
            </a:r>
          </a:p>
          <a:p>
            <a:pPr algn="ctr"/>
            <a:r>
              <a:rPr lang="en-GB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Port:3000</a:t>
            </a:r>
          </a:p>
          <a:p>
            <a:pPr algn="ctr"/>
            <a:r>
              <a:rPr lang="en-GB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JavaScript/JSX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9AC972-7853-0FCF-BD77-EFFC547EDC5E}"/>
              </a:ext>
            </a:extLst>
          </p:cNvPr>
          <p:cNvGrpSpPr/>
          <p:nvPr/>
        </p:nvGrpSpPr>
        <p:grpSpPr>
          <a:xfrm>
            <a:off x="4912901" y="1887231"/>
            <a:ext cx="3041780" cy="4121681"/>
            <a:chOff x="4572000" y="1911412"/>
            <a:chExt cx="3041780" cy="4121681"/>
          </a:xfrm>
          <a:solidFill>
            <a:srgbClr val="92D050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F42C1-7ED6-B602-8E6E-889FD2C1433A}"/>
                </a:ext>
              </a:extLst>
            </p:cNvPr>
            <p:cNvSpPr/>
            <p:nvPr/>
          </p:nvSpPr>
          <p:spPr>
            <a:xfrm>
              <a:off x="4572000" y="1911412"/>
              <a:ext cx="3041780" cy="4121681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05C77A1-DAF8-0F2F-1604-EFAE2A7FD2E6}"/>
                </a:ext>
              </a:extLst>
            </p:cNvPr>
            <p:cNvSpPr/>
            <p:nvPr/>
          </p:nvSpPr>
          <p:spPr>
            <a:xfrm>
              <a:off x="4764152" y="1981731"/>
              <a:ext cx="2657475" cy="285219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APPLICATION TIRE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D8F6F47-D690-805A-2D1F-20C489A2254D}"/>
                </a:ext>
              </a:extLst>
            </p:cNvPr>
            <p:cNvSpPr/>
            <p:nvPr/>
          </p:nvSpPr>
          <p:spPr>
            <a:xfrm>
              <a:off x="4764151" y="2483325"/>
              <a:ext cx="2657475" cy="781050"/>
            </a:xfrm>
            <a:prstGeom prst="rect">
              <a:avLst/>
            </a:prstGeom>
            <a:grpFill/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     Spring boot backend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Port: 8080 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Rest API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F8D882F-E8AE-8EFF-0289-18D6FB711FCC}"/>
                </a:ext>
              </a:extLst>
            </p:cNvPr>
            <p:cNvSpPr/>
            <p:nvPr/>
          </p:nvSpPr>
          <p:spPr>
            <a:xfrm>
              <a:off x="4964313" y="3453181"/>
              <a:ext cx="2362412" cy="472403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Security Layer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Jwt Token Validation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66CC6E2-441C-66DF-AD69-4D67A014F41D}"/>
                </a:ext>
              </a:extLst>
            </p:cNvPr>
            <p:cNvSpPr/>
            <p:nvPr/>
          </p:nvSpPr>
          <p:spPr>
            <a:xfrm>
              <a:off x="4964313" y="4034272"/>
              <a:ext cx="2362412" cy="383107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Rest Controller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FF99BEC-3212-2034-B4B8-78B56C8E8015}"/>
                </a:ext>
              </a:extLst>
            </p:cNvPr>
            <p:cNvSpPr/>
            <p:nvPr/>
          </p:nvSpPr>
          <p:spPr>
            <a:xfrm>
              <a:off x="4964313" y="4615363"/>
              <a:ext cx="2362412" cy="383107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Service Layer</a:t>
              </a:r>
            </a:p>
            <a:p>
              <a:pPr algn="ctr"/>
              <a:r>
                <a:rPr lang="en-GB" dirty="0">
                  <a:solidFill>
                    <a:schemeClr val="tx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Business logic layer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BCD36D7-67B7-1EBC-DFF6-771F5FD9CF48}"/>
                </a:ext>
              </a:extLst>
            </p:cNvPr>
            <p:cNvSpPr/>
            <p:nvPr/>
          </p:nvSpPr>
          <p:spPr>
            <a:xfrm>
              <a:off x="4964313" y="5196454"/>
              <a:ext cx="2362412" cy="383107"/>
            </a:xfrm>
            <a:prstGeom prst="rect">
              <a:avLst/>
            </a:prstGeom>
            <a:grpFill/>
            <a:ln>
              <a:solidFill>
                <a:schemeClr val="accent1">
                  <a:shade val="1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Repository Layer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5F4BF01-9118-F01D-6039-15AB25430B00}"/>
              </a:ext>
            </a:extLst>
          </p:cNvPr>
          <p:cNvGrpSpPr/>
          <p:nvPr/>
        </p:nvGrpSpPr>
        <p:grpSpPr>
          <a:xfrm>
            <a:off x="8877462" y="1888512"/>
            <a:ext cx="3041780" cy="4121681"/>
            <a:chOff x="8378890" y="1887232"/>
            <a:chExt cx="3041780" cy="412168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6E4AD1D-7442-E369-791D-7A78435B5587}"/>
                </a:ext>
              </a:extLst>
            </p:cNvPr>
            <p:cNvSpPr/>
            <p:nvPr/>
          </p:nvSpPr>
          <p:spPr>
            <a:xfrm>
              <a:off x="8378890" y="1887232"/>
              <a:ext cx="3041780" cy="4121681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A6DB87F-DCAF-5BD8-CF6F-728AED30A687}"/>
                </a:ext>
              </a:extLst>
            </p:cNvPr>
            <p:cNvSpPr/>
            <p:nvPr/>
          </p:nvSpPr>
          <p:spPr>
            <a:xfrm>
              <a:off x="8588343" y="2001046"/>
              <a:ext cx="2657475" cy="285219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DATA TIRE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466DB96-B088-095A-5C77-79FF67695E67}"/>
                </a:ext>
              </a:extLst>
            </p:cNvPr>
            <p:cNvSpPr/>
            <p:nvPr/>
          </p:nvSpPr>
          <p:spPr>
            <a:xfrm>
              <a:off x="8571042" y="2483325"/>
              <a:ext cx="2657475" cy="78105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PostgreSQL</a:t>
              </a:r>
            </a:p>
            <a:p>
              <a:pPr algn="ctr"/>
              <a:r>
                <a:rPr lang="en-GB" dirty="0"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Database</a:t>
              </a:r>
            </a:p>
            <a:p>
              <a:pPr algn="ctr"/>
              <a:r>
                <a:rPr lang="en-GB" dirty="0">
                  <a:latin typeface="Urbanist" panose="020B0604020202020204" charset="0"/>
                  <a:ea typeface="Urbanist" panose="020B0604020202020204" charset="0"/>
                  <a:cs typeface="Urbanist" panose="020B0604020202020204" charset="0"/>
                </a:rPr>
                <a:t>Port: 5432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4D722AD-A356-8B21-C22D-79D0823441E5}"/>
              </a:ext>
            </a:extLst>
          </p:cNvPr>
          <p:cNvSpPr/>
          <p:nvPr/>
        </p:nvSpPr>
        <p:spPr>
          <a:xfrm>
            <a:off x="1145537" y="3596327"/>
            <a:ext cx="919165" cy="78105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b="1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Screen 1 </a:t>
            </a:r>
          </a:p>
          <a:p>
            <a:pPr algn="ctr"/>
            <a:endParaRPr lang="en-GB" sz="900" b="1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algn="ctr"/>
            <a:r>
              <a:rPr lang="en-GB" sz="900" dirty="0">
                <a:solidFill>
                  <a:schemeClr val="tx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Purchase Management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238426-592F-BDFB-0E3C-0C712C07C5CD}"/>
              </a:ext>
            </a:extLst>
          </p:cNvPr>
          <p:cNvSpPr/>
          <p:nvPr/>
        </p:nvSpPr>
        <p:spPr>
          <a:xfrm>
            <a:off x="2508904" y="3593626"/>
            <a:ext cx="919165" cy="78105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b="1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Screen 2 </a:t>
            </a:r>
          </a:p>
          <a:p>
            <a:pPr algn="ctr"/>
            <a:r>
              <a:rPr lang="en-GB" sz="900" dirty="0">
                <a:solidFill>
                  <a:schemeClr val="tx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Billing</a:t>
            </a:r>
          </a:p>
          <a:p>
            <a:pPr algn="ctr"/>
            <a:r>
              <a:rPr lang="en-GB" sz="900" dirty="0">
                <a:solidFill>
                  <a:schemeClr val="tx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Or </a:t>
            </a:r>
          </a:p>
          <a:p>
            <a:pPr algn="ctr"/>
            <a:r>
              <a:rPr lang="en-GB" sz="900" dirty="0">
                <a:solidFill>
                  <a:schemeClr val="tx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Point of Sale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12EA6C-2DC9-BD11-A6A5-A8EB2985A175}"/>
              </a:ext>
            </a:extLst>
          </p:cNvPr>
          <p:cNvSpPr/>
          <p:nvPr/>
        </p:nvSpPr>
        <p:spPr>
          <a:xfrm>
            <a:off x="1145537" y="4561194"/>
            <a:ext cx="919165" cy="78105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b="1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Screen 3</a:t>
            </a:r>
          </a:p>
          <a:p>
            <a:pPr algn="ctr"/>
            <a:endParaRPr lang="en-GB" sz="900" b="1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algn="ctr"/>
            <a:r>
              <a:rPr lang="en-GB" sz="900" dirty="0">
                <a:solidFill>
                  <a:schemeClr val="tx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Stock Monitoring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2350FC-40E8-5617-CAC7-33A45AE28BE9}"/>
              </a:ext>
            </a:extLst>
          </p:cNvPr>
          <p:cNvSpPr/>
          <p:nvPr/>
        </p:nvSpPr>
        <p:spPr>
          <a:xfrm>
            <a:off x="2508904" y="4561194"/>
            <a:ext cx="919165" cy="78105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b="1" dirty="0"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Screen 4</a:t>
            </a:r>
          </a:p>
          <a:p>
            <a:pPr algn="ctr"/>
            <a:endParaRPr lang="en-GB" sz="900" b="1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  <a:p>
            <a:pPr algn="ctr"/>
            <a:r>
              <a:rPr lang="en-GB" sz="900" dirty="0">
                <a:solidFill>
                  <a:schemeClr val="tx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Report</a:t>
            </a:r>
          </a:p>
          <a:p>
            <a:pPr algn="ctr"/>
            <a:r>
              <a:rPr lang="en-GB" sz="900" dirty="0">
                <a:solidFill>
                  <a:schemeClr val="tx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Or history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0FD0A2-22E9-2F09-FE49-22B84F6FFA55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806890" y="3948072"/>
            <a:ext cx="1106011" cy="0"/>
          </a:xfrm>
          <a:prstGeom prst="straightConnector1">
            <a:avLst/>
          </a:prstGeom>
          <a:ln w="57150">
            <a:solidFill>
              <a:schemeClr val="bg1">
                <a:lumMod val="95000"/>
              </a:schemeClr>
            </a:solidFill>
            <a:tailEnd type="triangle"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C6222D4-9AB4-78D0-D170-C16736794946}"/>
              </a:ext>
            </a:extLst>
          </p:cNvPr>
          <p:cNvSpPr txBox="1"/>
          <p:nvPr/>
        </p:nvSpPr>
        <p:spPr>
          <a:xfrm>
            <a:off x="3845135" y="3593626"/>
            <a:ext cx="1050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http / Rest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6EA56B-E305-005B-2741-E2E50FA7EB87}"/>
              </a:ext>
            </a:extLst>
          </p:cNvPr>
          <p:cNvSpPr txBox="1"/>
          <p:nvPr/>
        </p:nvSpPr>
        <p:spPr>
          <a:xfrm>
            <a:off x="3990120" y="3984151"/>
            <a:ext cx="952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API ,Json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D38BD38-6BFC-09EF-6956-0EE32C2324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420" y="2676137"/>
            <a:ext cx="415893" cy="41589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9BA1DA-19E9-65CD-8620-6CA12895A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2628" y="2546508"/>
            <a:ext cx="498109" cy="53634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44868DC-FF24-99FC-51A6-52B685165C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1063" y="2615771"/>
            <a:ext cx="516158" cy="51615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4E48B03-082D-8BE3-E31A-872E7202D686}"/>
              </a:ext>
            </a:extLst>
          </p:cNvPr>
          <p:cNvSpPr txBox="1"/>
          <p:nvPr/>
        </p:nvSpPr>
        <p:spPr>
          <a:xfrm>
            <a:off x="9112315" y="3524250"/>
            <a:ext cx="2314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Core tables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437968-2D5F-C15B-21A2-F1CE04BF002C}"/>
              </a:ext>
            </a:extLst>
          </p:cNvPr>
          <p:cNvSpPr txBox="1"/>
          <p:nvPr/>
        </p:nvSpPr>
        <p:spPr>
          <a:xfrm>
            <a:off x="9241063" y="3759866"/>
            <a:ext cx="231457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</a:rPr>
              <a:t>1. Retailers</a:t>
            </a:r>
          </a:p>
          <a:p>
            <a:r>
              <a:rPr lang="en-GB" sz="900" dirty="0">
                <a:solidFill>
                  <a:schemeClr val="bg1"/>
                </a:solidFill>
              </a:rPr>
              <a:t>2. Suppliers</a:t>
            </a:r>
          </a:p>
          <a:p>
            <a:r>
              <a:rPr lang="en-GB" sz="900" dirty="0">
                <a:solidFill>
                  <a:schemeClr val="bg1"/>
                </a:solidFill>
              </a:rPr>
              <a:t>3. Customers</a:t>
            </a:r>
          </a:p>
          <a:p>
            <a:r>
              <a:rPr lang="en-GB" sz="900" dirty="0">
                <a:solidFill>
                  <a:schemeClr val="bg1"/>
                </a:solidFill>
              </a:rPr>
              <a:t>4. Items </a:t>
            </a:r>
          </a:p>
          <a:p>
            <a:r>
              <a:rPr lang="en-GB" sz="900" dirty="0">
                <a:solidFill>
                  <a:schemeClr val="bg1"/>
                </a:solidFill>
              </a:rPr>
              <a:t>5. Purchase Orders</a:t>
            </a:r>
          </a:p>
          <a:p>
            <a:r>
              <a:rPr lang="en-GB" sz="900" dirty="0">
                <a:solidFill>
                  <a:schemeClr val="bg1"/>
                </a:solidFill>
              </a:rPr>
              <a:t>6. Sales</a:t>
            </a:r>
          </a:p>
          <a:p>
            <a:r>
              <a:rPr lang="en-GB" sz="900" dirty="0">
                <a:solidFill>
                  <a:schemeClr val="bg1"/>
                </a:solidFill>
              </a:rPr>
              <a:t>7. Sale items</a:t>
            </a:r>
          </a:p>
          <a:p>
            <a:r>
              <a:rPr lang="en-GB" sz="900" dirty="0">
                <a:solidFill>
                  <a:schemeClr val="bg1"/>
                </a:solidFill>
              </a:rPr>
              <a:t>8. Inventory transactions</a:t>
            </a:r>
          </a:p>
          <a:p>
            <a:r>
              <a:rPr lang="en-GB" sz="900" dirty="0">
                <a:solidFill>
                  <a:schemeClr val="bg1"/>
                </a:solidFill>
              </a:rPr>
              <a:t>9. Supplier payments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6CEEB1-92F2-6A6F-FFEF-A55D7350E85E}"/>
              </a:ext>
            </a:extLst>
          </p:cNvPr>
          <p:cNvSpPr txBox="1"/>
          <p:nvPr/>
        </p:nvSpPr>
        <p:spPr>
          <a:xfrm>
            <a:off x="9112315" y="5018384"/>
            <a:ext cx="2314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Views: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361DDA-6478-BF99-6460-92E8F845398B}"/>
              </a:ext>
            </a:extLst>
          </p:cNvPr>
          <p:cNvSpPr txBox="1"/>
          <p:nvPr/>
        </p:nvSpPr>
        <p:spPr>
          <a:xfrm>
            <a:off x="9127505" y="5242873"/>
            <a:ext cx="231457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solidFill>
                  <a:schemeClr val="bg1"/>
                </a:solidFill>
              </a:rPr>
              <a:t>Low stock items</a:t>
            </a:r>
          </a:p>
          <a:p>
            <a:r>
              <a:rPr lang="en-GB" sz="900" dirty="0">
                <a:solidFill>
                  <a:schemeClr val="bg1"/>
                </a:solidFill>
              </a:rPr>
              <a:t>Pending supplier payments</a:t>
            </a:r>
          </a:p>
          <a:p>
            <a:r>
              <a:rPr lang="en-GB" sz="900" dirty="0">
                <a:solidFill>
                  <a:schemeClr val="bg1"/>
                </a:solidFill>
              </a:rPr>
              <a:t>Daily sales report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12A6F34-C86E-089F-9668-4BF930998EB1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7954681" y="3948072"/>
            <a:ext cx="922781" cy="1281"/>
          </a:xfrm>
          <a:prstGeom prst="straightConnector1">
            <a:avLst/>
          </a:prstGeom>
          <a:ln w="57150">
            <a:solidFill>
              <a:schemeClr val="bg1">
                <a:lumMod val="95000"/>
              </a:schemeClr>
            </a:solidFill>
            <a:tailEnd type="triangle"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8FA70DA-ACB5-FDE4-D75B-2C643CBE7929}"/>
              </a:ext>
            </a:extLst>
          </p:cNvPr>
          <p:cNvSpPr txBox="1"/>
          <p:nvPr/>
        </p:nvSpPr>
        <p:spPr>
          <a:xfrm>
            <a:off x="8083429" y="3602194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JDBC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08081C-E8B5-F944-2B8E-565E76240E23}"/>
              </a:ext>
            </a:extLst>
          </p:cNvPr>
          <p:cNvSpPr txBox="1"/>
          <p:nvPr/>
        </p:nvSpPr>
        <p:spPr>
          <a:xfrm>
            <a:off x="8027257" y="3991107"/>
            <a:ext cx="811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Queries</a:t>
            </a:r>
          </a:p>
        </p:txBody>
      </p:sp>
    </p:spTree>
    <p:extLst>
      <p:ext uri="{BB962C8B-B14F-4D97-AF65-F5344CB8AC3E}">
        <p14:creationId xmlns:p14="http://schemas.microsoft.com/office/powerpoint/2010/main" val="1854547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0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47082"/>
            <a:ext cx="2547937" cy="2373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847082"/>
            <a:ext cx="2547937" cy="2373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847082"/>
            <a:ext cx="2547937" cy="2373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72562" y="2847082"/>
            <a:ext cx="2547937" cy="237351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817840" y="3856732"/>
            <a:ext cx="205525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React JS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66775" y="4285357"/>
            <a:ext cx="195738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Frontend: Responsive and dynamic user interface.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3651527" y="3856732"/>
            <a:ext cx="205525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Spring Boot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3700462" y="4285357"/>
            <a:ext cx="195738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Backend: Robust and scalable server-side logic.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485215" y="3856732"/>
            <a:ext cx="205525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PostgreSQL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534150" y="4285357"/>
            <a:ext cx="195738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Database: Reliable structured data storage.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318902" y="3856732"/>
            <a:ext cx="205525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AWS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367837" y="4285357"/>
            <a:ext cx="195738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Cloud: Secure hosting and deployment infrastructure.</a:t>
            </a:r>
            <a:endParaRPr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16868" y="31614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07706" y="316140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12818" y="316140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60781" y="316140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Technology Stack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0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1809750" y="2022489"/>
            <a:ext cx="8572500" cy="1782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DEFF9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"Minimizes stockouts, eliminates human errors, and enhances customer satisfaction through automation."</a:t>
            </a:r>
            <a:endParaRPr dirty="0"/>
          </a:p>
        </p:txBody>
      </p:sp>
      <p:sp>
        <p:nvSpPr>
          <p:cNvPr id="222" name="Google Shape;222;p23"/>
          <p:cNvSpPr txBox="1"/>
          <p:nvPr/>
        </p:nvSpPr>
        <p:spPr>
          <a:xfrm>
            <a:off x="5080950" y="4680830"/>
            <a:ext cx="20301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Project Goal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0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295275" y="2178397"/>
            <a:ext cx="1160145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571500" y="3740497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571500" y="4460527"/>
            <a:ext cx="11049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Inventory System Team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694</Words>
  <Application>Microsoft Office PowerPoint</Application>
  <PresentationFormat>Widescreen</PresentationFormat>
  <Paragraphs>190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Calibri</vt:lpstr>
      <vt:lpstr>Bebas Neue</vt:lpstr>
      <vt:lpstr>Amasis MT Pro</vt:lpstr>
      <vt:lpstr>Viga</vt:lpstr>
      <vt:lpstr>Arial</vt:lpstr>
      <vt:lpstr>Urbanist</vt:lpstr>
      <vt:lpstr>Times New Roman</vt:lpstr>
      <vt:lpstr>Amasis MT Pro Black</vt:lpstr>
      <vt:lpstr>Anaheim</vt:lpstr>
      <vt:lpstr>Office Theme</vt:lpstr>
      <vt:lpstr>PowerPoint Presentation</vt:lpstr>
      <vt:lpstr>PowerPoint Presentation</vt:lpstr>
      <vt:lpstr>PowerPoint Presentation</vt:lpstr>
      <vt:lpstr>Table of contents</vt:lpstr>
      <vt:lpstr>PowerPoint Presentation</vt:lpstr>
      <vt:lpstr>PowerPoint Presentation</vt:lpstr>
      <vt:lpstr>Goals (EXPECTED OUTCOMES based on your features)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Yogi Raj Neelamsetti</cp:lastModifiedBy>
  <cp:revision>6</cp:revision>
  <dcterms:modified xsi:type="dcterms:W3CDTF">2026-01-07T02:41:58Z</dcterms:modified>
</cp:coreProperties>
</file>